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4"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86571C-1384-4B39-B06D-A48AE27E2FD1}" v="1" dt="2025-12-02T12:26:01.8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42" d="100"/>
          <a:sy n="142" d="100"/>
        </p:scale>
        <p:origin x="948"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aliova, Sviatlana" userId="c168be0f-1f2c-4a7b-bb31-41a18b6722e0" providerId="ADAL" clId="{7A385A4D-2033-483D-ABF5-E9581E10E6BE}"/>
    <pc:docChg chg="custSel modSld">
      <pc:chgData name="Karaliova, Sviatlana" userId="c168be0f-1f2c-4a7b-bb31-41a18b6722e0" providerId="ADAL" clId="{7A385A4D-2033-483D-ABF5-E9581E10E6BE}" dt="2025-12-02T12:27:41.719" v="68" actId="20577"/>
      <pc:docMkLst>
        <pc:docMk/>
      </pc:docMkLst>
      <pc:sldChg chg="modSp mod">
        <pc:chgData name="Karaliova, Sviatlana" userId="c168be0f-1f2c-4a7b-bb31-41a18b6722e0" providerId="ADAL" clId="{7A385A4D-2033-483D-ABF5-E9581E10E6BE}" dt="2025-12-02T12:26:34.323" v="3" actId="1076"/>
        <pc:sldMkLst>
          <pc:docMk/>
          <pc:sldMk cId="3472975338" sldId="258"/>
        </pc:sldMkLst>
        <pc:spChg chg="mod">
          <ac:chgData name="Karaliova, Sviatlana" userId="c168be0f-1f2c-4a7b-bb31-41a18b6722e0" providerId="ADAL" clId="{7A385A4D-2033-483D-ABF5-E9581E10E6BE}" dt="2025-12-02T12:26:34.323" v="3" actId="1076"/>
          <ac:spMkLst>
            <pc:docMk/>
            <pc:sldMk cId="3472975338" sldId="258"/>
            <ac:spMk id="14" creationId="{B09E3E82-E468-8605-B21B-05353EF2772D}"/>
          </ac:spMkLst>
        </pc:spChg>
      </pc:sldChg>
      <pc:sldChg chg="modSp mod">
        <pc:chgData name="Karaliova, Sviatlana" userId="c168be0f-1f2c-4a7b-bb31-41a18b6722e0" providerId="ADAL" clId="{7A385A4D-2033-483D-ABF5-E9581E10E6BE}" dt="2025-12-02T12:26:43.772" v="7" actId="1076"/>
        <pc:sldMkLst>
          <pc:docMk/>
          <pc:sldMk cId="2282966979" sldId="259"/>
        </pc:sldMkLst>
        <pc:spChg chg="mod">
          <ac:chgData name="Karaliova, Sviatlana" userId="c168be0f-1f2c-4a7b-bb31-41a18b6722e0" providerId="ADAL" clId="{7A385A4D-2033-483D-ABF5-E9581E10E6BE}" dt="2025-12-02T12:26:43.772" v="7" actId="1076"/>
          <ac:spMkLst>
            <pc:docMk/>
            <pc:sldMk cId="2282966979" sldId="259"/>
            <ac:spMk id="15" creationId="{40883217-9791-43E2-0610-C9758F0DD09A}"/>
          </ac:spMkLst>
        </pc:spChg>
      </pc:sldChg>
      <pc:sldChg chg="modSp mod">
        <pc:chgData name="Karaliova, Sviatlana" userId="c168be0f-1f2c-4a7b-bb31-41a18b6722e0" providerId="ADAL" clId="{7A385A4D-2033-483D-ABF5-E9581E10E6BE}" dt="2025-12-02T12:26:53.805" v="9" actId="1076"/>
        <pc:sldMkLst>
          <pc:docMk/>
          <pc:sldMk cId="4135829998" sldId="260"/>
        </pc:sldMkLst>
        <pc:spChg chg="mod">
          <ac:chgData name="Karaliova, Sviatlana" userId="c168be0f-1f2c-4a7b-bb31-41a18b6722e0" providerId="ADAL" clId="{7A385A4D-2033-483D-ABF5-E9581E10E6BE}" dt="2025-12-02T12:26:53.805" v="9" actId="1076"/>
          <ac:spMkLst>
            <pc:docMk/>
            <pc:sldMk cId="4135829998" sldId="260"/>
            <ac:spMk id="7" creationId="{18E07C2E-DDB8-4053-3E4A-277264D9C512}"/>
          </ac:spMkLst>
        </pc:spChg>
      </pc:sldChg>
      <pc:sldChg chg="modSp mod">
        <pc:chgData name="Karaliova, Sviatlana" userId="c168be0f-1f2c-4a7b-bb31-41a18b6722e0" providerId="ADAL" clId="{7A385A4D-2033-483D-ABF5-E9581E10E6BE}" dt="2025-12-02T12:27:02.612" v="12" actId="1076"/>
        <pc:sldMkLst>
          <pc:docMk/>
          <pc:sldMk cId="4148988450" sldId="261"/>
        </pc:sldMkLst>
        <pc:spChg chg="mod">
          <ac:chgData name="Karaliova, Sviatlana" userId="c168be0f-1f2c-4a7b-bb31-41a18b6722e0" providerId="ADAL" clId="{7A385A4D-2033-483D-ABF5-E9581E10E6BE}" dt="2025-12-02T12:27:02.612" v="12" actId="1076"/>
          <ac:spMkLst>
            <pc:docMk/>
            <pc:sldMk cId="4148988450" sldId="261"/>
            <ac:spMk id="6" creationId="{678DAA41-497D-C951-177B-2EC292FF2EAE}"/>
          </ac:spMkLst>
        </pc:spChg>
      </pc:sldChg>
      <pc:sldChg chg="modSp mod">
        <pc:chgData name="Karaliova, Sviatlana" userId="c168be0f-1f2c-4a7b-bb31-41a18b6722e0" providerId="ADAL" clId="{7A385A4D-2033-483D-ABF5-E9581E10E6BE}" dt="2025-12-02T12:27:10.114" v="16" actId="1076"/>
        <pc:sldMkLst>
          <pc:docMk/>
          <pc:sldMk cId="3537781097" sldId="262"/>
        </pc:sldMkLst>
        <pc:spChg chg="mod">
          <ac:chgData name="Karaliova, Sviatlana" userId="c168be0f-1f2c-4a7b-bb31-41a18b6722e0" providerId="ADAL" clId="{7A385A4D-2033-483D-ABF5-E9581E10E6BE}" dt="2025-12-02T12:27:10.114" v="16" actId="1076"/>
          <ac:spMkLst>
            <pc:docMk/>
            <pc:sldMk cId="3537781097" sldId="262"/>
            <ac:spMk id="5" creationId="{810F3EB2-5129-2785-93AE-F68684B6893A}"/>
          </ac:spMkLst>
        </pc:spChg>
      </pc:sldChg>
      <pc:sldChg chg="modSp mod">
        <pc:chgData name="Karaliova, Sviatlana" userId="c168be0f-1f2c-4a7b-bb31-41a18b6722e0" providerId="ADAL" clId="{7A385A4D-2033-483D-ABF5-E9581E10E6BE}" dt="2025-12-02T12:27:41.719" v="68" actId="20577"/>
        <pc:sldMkLst>
          <pc:docMk/>
          <pc:sldMk cId="2683334811" sldId="263"/>
        </pc:sldMkLst>
        <pc:spChg chg="mod">
          <ac:chgData name="Karaliova, Sviatlana" userId="c168be0f-1f2c-4a7b-bb31-41a18b6722e0" providerId="ADAL" clId="{7A385A4D-2033-483D-ABF5-E9581E10E6BE}" dt="2025-12-02T12:27:41.719" v="68" actId="20577"/>
          <ac:spMkLst>
            <pc:docMk/>
            <pc:sldMk cId="2683334811" sldId="263"/>
            <ac:spMk id="2" creationId="{1566F363-621F-F939-F95A-C54EFD426770}"/>
          </ac:spMkLst>
        </pc:spChg>
        <pc:spChg chg="mod">
          <ac:chgData name="Karaliova, Sviatlana" userId="c168be0f-1f2c-4a7b-bb31-41a18b6722e0" providerId="ADAL" clId="{7A385A4D-2033-483D-ABF5-E9581E10E6BE}" dt="2025-12-02T12:27:16.598" v="19" actId="1076"/>
          <ac:spMkLst>
            <pc:docMk/>
            <pc:sldMk cId="2683334811" sldId="263"/>
            <ac:spMk id="3" creationId="{3225740A-9254-6065-6B48-A97BBDFCE92E}"/>
          </ac:spMkLst>
        </pc:spChg>
      </pc:sldChg>
      <pc:sldChg chg="modSp mod">
        <pc:chgData name="Karaliova, Sviatlana" userId="c168be0f-1f2c-4a7b-bb31-41a18b6722e0" providerId="ADAL" clId="{7A385A4D-2033-483D-ABF5-E9581E10E6BE}" dt="2025-12-02T12:26:20.506" v="0" actId="20577"/>
        <pc:sldMkLst>
          <pc:docMk/>
          <pc:sldMk cId="3770560724" sldId="264"/>
        </pc:sldMkLst>
        <pc:spChg chg="mod">
          <ac:chgData name="Karaliova, Sviatlana" userId="c168be0f-1f2c-4a7b-bb31-41a18b6722e0" providerId="ADAL" clId="{7A385A4D-2033-483D-ABF5-E9581E10E6BE}" dt="2025-12-02T12:26:20.506" v="0" actId="20577"/>
          <ac:spMkLst>
            <pc:docMk/>
            <pc:sldMk cId="3770560724" sldId="264"/>
            <ac:spMk id="3" creationId="{585796F5-E1BD-BF7E-C278-B627DB0C9BB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E3FA7B-F26A-4C9F-9657-FB7728F96D06}"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07174F-3A5C-494B-9C11-2E4BF9A55436}" type="slidenum">
              <a:rPr lang="en-US" smtClean="0"/>
              <a:t>‹#›</a:t>
            </a:fld>
            <a:endParaRPr lang="en-US"/>
          </a:p>
        </p:txBody>
      </p:sp>
    </p:spTree>
    <p:extLst>
      <p:ext uri="{BB962C8B-B14F-4D97-AF65-F5344CB8AC3E}">
        <p14:creationId xmlns:p14="http://schemas.microsoft.com/office/powerpoint/2010/main" val="2795953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7E7F3-96D7-CB52-8D79-0859C22D31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565325-7E6C-3A35-4035-06A83BE331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5B1071-6031-59B1-E387-884AF93F0421}"/>
              </a:ext>
            </a:extLst>
          </p:cNvPr>
          <p:cNvSpPr>
            <a:spLocks noGrp="1"/>
          </p:cNvSpPr>
          <p:nvPr>
            <p:ph type="dt" sz="half" idx="10"/>
          </p:nvPr>
        </p:nvSpPr>
        <p:spPr/>
        <p:txBody>
          <a:bodyPr/>
          <a:lstStyle/>
          <a:p>
            <a:fld id="{E4430171-0281-4807-8F76-0CA6BA530998}" type="datetime1">
              <a:rPr lang="en-US" smtClean="0"/>
              <a:t>12/2/2025</a:t>
            </a:fld>
            <a:endParaRPr lang="en-US"/>
          </a:p>
        </p:txBody>
      </p:sp>
      <p:sp>
        <p:nvSpPr>
          <p:cNvPr id="5" name="Footer Placeholder 4">
            <a:extLst>
              <a:ext uri="{FF2B5EF4-FFF2-40B4-BE49-F238E27FC236}">
                <a16:creationId xmlns:a16="http://schemas.microsoft.com/office/drawing/2014/main" id="{A233FDBE-DEF4-76DB-08A7-7734E819B8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F0B158-EC6B-93DC-8C83-1BF6ECBCC33B}"/>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4162875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6D9D-1631-3596-E619-5033F6FFD7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AA7FD0-7A40-4C2A-FFE0-53B4ADF4C0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F51761-D257-880B-1CCE-95D31E05D6DB}"/>
              </a:ext>
            </a:extLst>
          </p:cNvPr>
          <p:cNvSpPr>
            <a:spLocks noGrp="1"/>
          </p:cNvSpPr>
          <p:nvPr>
            <p:ph type="dt" sz="half" idx="10"/>
          </p:nvPr>
        </p:nvSpPr>
        <p:spPr/>
        <p:txBody>
          <a:bodyPr/>
          <a:lstStyle/>
          <a:p>
            <a:fld id="{11DEC933-63EB-470D-B2CE-782C37A00CA3}" type="datetime1">
              <a:rPr lang="en-US" smtClean="0"/>
              <a:t>12/2/2025</a:t>
            </a:fld>
            <a:endParaRPr lang="en-US"/>
          </a:p>
        </p:txBody>
      </p:sp>
      <p:sp>
        <p:nvSpPr>
          <p:cNvPr id="5" name="Footer Placeholder 4">
            <a:extLst>
              <a:ext uri="{FF2B5EF4-FFF2-40B4-BE49-F238E27FC236}">
                <a16:creationId xmlns:a16="http://schemas.microsoft.com/office/drawing/2014/main" id="{1A081136-42E2-F0F8-6B47-C14B5B6E3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DA2570-42F3-917E-7DF5-F85A8FA36EB6}"/>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56090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3F887-029D-9140-0062-891C6794B2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50BA07-CEDF-9775-A50C-EA8CBC74AC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045059-9FE6-3125-7B95-B39EB496AE4F}"/>
              </a:ext>
            </a:extLst>
          </p:cNvPr>
          <p:cNvSpPr>
            <a:spLocks noGrp="1"/>
          </p:cNvSpPr>
          <p:nvPr>
            <p:ph type="dt" sz="half" idx="10"/>
          </p:nvPr>
        </p:nvSpPr>
        <p:spPr/>
        <p:txBody>
          <a:bodyPr/>
          <a:lstStyle/>
          <a:p>
            <a:fld id="{4CDDFB4C-4E0E-4069-9D07-A541D0248B7D}" type="datetime1">
              <a:rPr lang="en-US" smtClean="0"/>
              <a:t>12/2/2025</a:t>
            </a:fld>
            <a:endParaRPr lang="en-US"/>
          </a:p>
        </p:txBody>
      </p:sp>
      <p:sp>
        <p:nvSpPr>
          <p:cNvPr id="5" name="Footer Placeholder 4">
            <a:extLst>
              <a:ext uri="{FF2B5EF4-FFF2-40B4-BE49-F238E27FC236}">
                <a16:creationId xmlns:a16="http://schemas.microsoft.com/office/drawing/2014/main" id="{3FD1E6C4-6D88-BED3-C812-D705FDCC8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8E679F-8E9A-6096-7FF6-7EF860499D13}"/>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3512557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BD789-6565-4097-DAA6-4E8DF1D48D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3D3CAF-4D27-2A0D-F975-AE096E3930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5DE473-EF32-A01B-39C9-27E0F901D8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D10EDB-E1E4-97D5-C66C-14C5EDABB59D}"/>
              </a:ext>
            </a:extLst>
          </p:cNvPr>
          <p:cNvSpPr>
            <a:spLocks noGrp="1"/>
          </p:cNvSpPr>
          <p:nvPr>
            <p:ph type="dt" sz="half" idx="10"/>
          </p:nvPr>
        </p:nvSpPr>
        <p:spPr/>
        <p:txBody>
          <a:bodyPr/>
          <a:lstStyle/>
          <a:p>
            <a:fld id="{67738C47-2557-4CCB-B31A-4D13FF057458}" type="datetime1">
              <a:rPr lang="en-US" smtClean="0"/>
              <a:t>12/2/2025</a:t>
            </a:fld>
            <a:endParaRPr lang="en-US"/>
          </a:p>
        </p:txBody>
      </p:sp>
      <p:sp>
        <p:nvSpPr>
          <p:cNvPr id="6" name="Footer Placeholder 5">
            <a:extLst>
              <a:ext uri="{FF2B5EF4-FFF2-40B4-BE49-F238E27FC236}">
                <a16:creationId xmlns:a16="http://schemas.microsoft.com/office/drawing/2014/main" id="{FBC8B8A7-AB52-F3D1-0F86-2176F80152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80EFFE-53A7-5623-7EE0-DF3696F39F7C}"/>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2783416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EE78F-07EC-C919-22BE-301344108D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4581F1-6F66-CEC4-82C6-B952753E59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FA721A-96D6-757B-EF3B-1453241241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5F7F5C-2AA8-75D0-094F-89D3C5F3E5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57F4B4-A5BA-7D7A-17BF-90F200DA4E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6684C5-E2CE-FA67-F40C-8712B046073E}"/>
              </a:ext>
            </a:extLst>
          </p:cNvPr>
          <p:cNvSpPr>
            <a:spLocks noGrp="1"/>
          </p:cNvSpPr>
          <p:nvPr>
            <p:ph type="dt" sz="half" idx="10"/>
          </p:nvPr>
        </p:nvSpPr>
        <p:spPr/>
        <p:txBody>
          <a:bodyPr/>
          <a:lstStyle/>
          <a:p>
            <a:fld id="{EF376A0D-5C2C-4504-AD60-52EB26533429}" type="datetime1">
              <a:rPr lang="en-US" smtClean="0"/>
              <a:t>12/2/2025</a:t>
            </a:fld>
            <a:endParaRPr lang="en-US"/>
          </a:p>
        </p:txBody>
      </p:sp>
      <p:sp>
        <p:nvSpPr>
          <p:cNvPr id="8" name="Footer Placeholder 7">
            <a:extLst>
              <a:ext uri="{FF2B5EF4-FFF2-40B4-BE49-F238E27FC236}">
                <a16:creationId xmlns:a16="http://schemas.microsoft.com/office/drawing/2014/main" id="{F63D417C-91A4-E16A-4D5E-7E798E9570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5E8B36-B8A6-95CD-C858-275A9F79A8AE}"/>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1577549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35308-D7C7-B926-B81D-E83D55BFA4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442424-B785-4C8F-0313-1066DA5366EF}"/>
              </a:ext>
            </a:extLst>
          </p:cNvPr>
          <p:cNvSpPr>
            <a:spLocks noGrp="1"/>
          </p:cNvSpPr>
          <p:nvPr>
            <p:ph type="dt" sz="half" idx="10"/>
          </p:nvPr>
        </p:nvSpPr>
        <p:spPr/>
        <p:txBody>
          <a:bodyPr/>
          <a:lstStyle/>
          <a:p>
            <a:fld id="{268882B1-3648-4A3D-B00B-C5CDB4ED849B}" type="datetime1">
              <a:rPr lang="en-US" smtClean="0"/>
              <a:t>12/2/2025</a:t>
            </a:fld>
            <a:endParaRPr lang="en-US"/>
          </a:p>
        </p:txBody>
      </p:sp>
      <p:sp>
        <p:nvSpPr>
          <p:cNvPr id="4" name="Footer Placeholder 3">
            <a:extLst>
              <a:ext uri="{FF2B5EF4-FFF2-40B4-BE49-F238E27FC236}">
                <a16:creationId xmlns:a16="http://schemas.microsoft.com/office/drawing/2014/main" id="{F54A86BE-AF13-0BA0-F499-B602608AE7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E45C9A-5B1C-04B3-0753-7BC7D9D9F4B2}"/>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1919317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15448-42A2-1123-BF9A-C876BB198369}"/>
              </a:ext>
            </a:extLst>
          </p:cNvPr>
          <p:cNvSpPr>
            <a:spLocks noGrp="1"/>
          </p:cNvSpPr>
          <p:nvPr>
            <p:ph type="dt" sz="half" idx="10"/>
          </p:nvPr>
        </p:nvSpPr>
        <p:spPr/>
        <p:txBody>
          <a:bodyPr/>
          <a:lstStyle/>
          <a:p>
            <a:fld id="{0B118801-F1B3-49F3-9569-18325877E5A5}" type="datetime1">
              <a:rPr lang="en-US" smtClean="0"/>
              <a:t>12/2/2025</a:t>
            </a:fld>
            <a:endParaRPr lang="en-US"/>
          </a:p>
        </p:txBody>
      </p:sp>
      <p:sp>
        <p:nvSpPr>
          <p:cNvPr id="3" name="Footer Placeholder 2">
            <a:extLst>
              <a:ext uri="{FF2B5EF4-FFF2-40B4-BE49-F238E27FC236}">
                <a16:creationId xmlns:a16="http://schemas.microsoft.com/office/drawing/2014/main" id="{7B4B0D07-8011-3DF0-1F7E-DF29BF6F36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E83F3F-9EEA-C6AE-C00F-879FB701F9E3}"/>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86097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DE738-EE89-CC9A-6173-3DFD8AAF51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392C35-ED1B-6B1B-E47A-31D20755D2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2F931F-4065-FE8F-81C8-DB6C754554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B9FF88-067C-3C44-4452-D8F874D18B4C}"/>
              </a:ext>
            </a:extLst>
          </p:cNvPr>
          <p:cNvSpPr>
            <a:spLocks noGrp="1"/>
          </p:cNvSpPr>
          <p:nvPr>
            <p:ph type="dt" sz="half" idx="10"/>
          </p:nvPr>
        </p:nvSpPr>
        <p:spPr/>
        <p:txBody>
          <a:bodyPr/>
          <a:lstStyle/>
          <a:p>
            <a:fld id="{E5A63F43-CE40-4240-B9E2-2C9D31BA3604}" type="datetime1">
              <a:rPr lang="en-US" smtClean="0"/>
              <a:t>12/2/2025</a:t>
            </a:fld>
            <a:endParaRPr lang="en-US"/>
          </a:p>
        </p:txBody>
      </p:sp>
      <p:sp>
        <p:nvSpPr>
          <p:cNvPr id="6" name="Footer Placeholder 5">
            <a:extLst>
              <a:ext uri="{FF2B5EF4-FFF2-40B4-BE49-F238E27FC236}">
                <a16:creationId xmlns:a16="http://schemas.microsoft.com/office/drawing/2014/main" id="{14AA9033-1BBE-701B-6F55-73C5A846AB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40E6CD-9E3F-1668-7EB1-AEF018631C17}"/>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306860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4D5BE-5625-A9DD-7612-8DDF73B791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928507-6007-3948-A420-6354F1A6D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0FC9BA-A07A-E75B-BFC1-851464A41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1AC6EF-6D22-C9ED-0A5B-DB8D1EF7B5E7}"/>
              </a:ext>
            </a:extLst>
          </p:cNvPr>
          <p:cNvSpPr>
            <a:spLocks noGrp="1"/>
          </p:cNvSpPr>
          <p:nvPr>
            <p:ph type="dt" sz="half" idx="10"/>
          </p:nvPr>
        </p:nvSpPr>
        <p:spPr/>
        <p:txBody>
          <a:bodyPr/>
          <a:lstStyle/>
          <a:p>
            <a:fld id="{BBB97E62-0A8A-4CB4-9FD4-1A18215AAA2A}" type="datetime1">
              <a:rPr lang="en-US" smtClean="0"/>
              <a:t>12/2/2025</a:t>
            </a:fld>
            <a:endParaRPr lang="en-US"/>
          </a:p>
        </p:txBody>
      </p:sp>
      <p:sp>
        <p:nvSpPr>
          <p:cNvPr id="6" name="Footer Placeholder 5">
            <a:extLst>
              <a:ext uri="{FF2B5EF4-FFF2-40B4-BE49-F238E27FC236}">
                <a16:creationId xmlns:a16="http://schemas.microsoft.com/office/drawing/2014/main" id="{5BEDB4A1-5FD8-C408-806E-F1F2CAB721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AE8D03-F9E7-6C2B-2A2A-7BE35CB4A0AA}"/>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3637723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962E2-3F7E-5FD4-5D7E-95B04778C6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7ABE03-E6DD-9784-739A-D010989F7D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2B6BA3-E0CB-46FC-56EC-D2E6B351EE7D}"/>
              </a:ext>
            </a:extLst>
          </p:cNvPr>
          <p:cNvSpPr>
            <a:spLocks noGrp="1"/>
          </p:cNvSpPr>
          <p:nvPr>
            <p:ph type="dt" sz="half" idx="10"/>
          </p:nvPr>
        </p:nvSpPr>
        <p:spPr/>
        <p:txBody>
          <a:bodyPr/>
          <a:lstStyle/>
          <a:p>
            <a:fld id="{A8973B25-E456-4327-8120-0FD2E59C1C58}" type="datetime1">
              <a:rPr lang="en-US" smtClean="0"/>
              <a:t>12/2/2025</a:t>
            </a:fld>
            <a:endParaRPr lang="en-US"/>
          </a:p>
        </p:txBody>
      </p:sp>
      <p:sp>
        <p:nvSpPr>
          <p:cNvPr id="5" name="Footer Placeholder 4">
            <a:extLst>
              <a:ext uri="{FF2B5EF4-FFF2-40B4-BE49-F238E27FC236}">
                <a16:creationId xmlns:a16="http://schemas.microsoft.com/office/drawing/2014/main" id="{5EE2EA0B-9707-A066-2EAF-765E4EC35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EA4A1-8BEA-012A-5E5B-4747AA7499D2}"/>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342736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FE0B37-043F-4721-3771-4F2194DD57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070BBD-BC57-ABA9-2A89-CABE0BDD7E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54A467-7C8E-79CA-78F8-43C585EC5D11}"/>
              </a:ext>
            </a:extLst>
          </p:cNvPr>
          <p:cNvSpPr>
            <a:spLocks noGrp="1"/>
          </p:cNvSpPr>
          <p:nvPr>
            <p:ph type="dt" sz="half" idx="10"/>
          </p:nvPr>
        </p:nvSpPr>
        <p:spPr/>
        <p:txBody>
          <a:bodyPr/>
          <a:lstStyle/>
          <a:p>
            <a:fld id="{47AE5264-C281-405C-93B1-17C4F972C42C}" type="datetime1">
              <a:rPr lang="en-US" smtClean="0"/>
              <a:t>12/2/2025</a:t>
            </a:fld>
            <a:endParaRPr lang="en-US"/>
          </a:p>
        </p:txBody>
      </p:sp>
      <p:sp>
        <p:nvSpPr>
          <p:cNvPr id="5" name="Footer Placeholder 4">
            <a:extLst>
              <a:ext uri="{FF2B5EF4-FFF2-40B4-BE49-F238E27FC236}">
                <a16:creationId xmlns:a16="http://schemas.microsoft.com/office/drawing/2014/main" id="{99E739E2-C6C9-3EE9-D2BB-3B91C2ADB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0A193-E74A-8794-38B8-47CB9B4EC395}"/>
              </a:ext>
            </a:extLst>
          </p:cNvPr>
          <p:cNvSpPr>
            <a:spLocks noGrp="1"/>
          </p:cNvSpPr>
          <p:nvPr>
            <p:ph type="sldNum" sz="quarter" idx="12"/>
          </p:nvPr>
        </p:nvSpPr>
        <p:spPr/>
        <p:txBody>
          <a:bodyPr/>
          <a:lstStyle/>
          <a:p>
            <a:fld id="{AE65E56C-247F-4986-BDBD-9452E5B2F26C}" type="slidenum">
              <a:rPr lang="en-US" smtClean="0"/>
              <a:t>‹#›</a:t>
            </a:fld>
            <a:endParaRPr lang="en-US"/>
          </a:p>
        </p:txBody>
      </p:sp>
    </p:spTree>
    <p:extLst>
      <p:ext uri="{BB962C8B-B14F-4D97-AF65-F5344CB8AC3E}">
        <p14:creationId xmlns:p14="http://schemas.microsoft.com/office/powerpoint/2010/main" val="162093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A74AEB-2E9D-5B5B-A96E-2394D773B7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5715C9-1819-338C-3991-16420A3BAA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F9D7D1-F8AF-9EAE-2D22-0D89E5A4EB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6ED8EC-8EC1-4F5E-A61D-B5E91BE846E4}" type="datetime1">
              <a:rPr lang="en-US" smtClean="0"/>
              <a:t>12/2/2025</a:t>
            </a:fld>
            <a:endParaRPr lang="en-US"/>
          </a:p>
        </p:txBody>
      </p:sp>
      <p:sp>
        <p:nvSpPr>
          <p:cNvPr id="5" name="Footer Placeholder 4">
            <a:extLst>
              <a:ext uri="{FF2B5EF4-FFF2-40B4-BE49-F238E27FC236}">
                <a16:creationId xmlns:a16="http://schemas.microsoft.com/office/drawing/2014/main" id="{191FD57A-C789-A2D3-C5DA-E11781805F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D7A844-BF0D-F617-2F46-E64DD4C273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65E56C-247F-4986-BDBD-9452E5B2F26C}" type="slidenum">
              <a:rPr lang="en-US" smtClean="0"/>
              <a:t>‹#›</a:t>
            </a:fld>
            <a:endParaRPr lang="en-US"/>
          </a:p>
        </p:txBody>
      </p:sp>
    </p:spTree>
    <p:extLst>
      <p:ext uri="{BB962C8B-B14F-4D97-AF65-F5344CB8AC3E}">
        <p14:creationId xmlns:p14="http://schemas.microsoft.com/office/powerpoint/2010/main" val="28600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7F2C-E9BA-8BEA-3126-F7EFDBF077D2}"/>
              </a:ext>
            </a:extLst>
          </p:cNvPr>
          <p:cNvSpPr>
            <a:spLocks noGrp="1"/>
          </p:cNvSpPr>
          <p:nvPr>
            <p:ph type="title"/>
          </p:nvPr>
        </p:nvSpPr>
        <p:spPr>
          <a:xfrm>
            <a:off x="389965" y="365125"/>
            <a:ext cx="10963835" cy="6197040"/>
          </a:xfrm>
        </p:spPr>
        <p:txBody>
          <a:bodyPr>
            <a:normAutofit/>
          </a:bodyPr>
          <a:lstStyle/>
          <a:p>
            <a:r>
              <a:rPr lang="pl-PL" dirty="0" err="1"/>
              <a:t>Final</a:t>
            </a:r>
            <a:r>
              <a:rPr lang="pl-PL" dirty="0"/>
              <a:t> Project</a:t>
            </a:r>
            <a:r>
              <a:rPr lang="en-GB" dirty="0"/>
              <a:t> for PA Data science course</a:t>
            </a:r>
            <a:br>
              <a:rPr lang="pl-PL" dirty="0"/>
            </a:br>
            <a:br>
              <a:rPr lang="en-GB" dirty="0"/>
            </a:br>
            <a:br>
              <a:rPr lang="pl-PL" dirty="0"/>
            </a:br>
            <a:r>
              <a:rPr lang="pl-PL" b="1" dirty="0" err="1"/>
              <a:t>Logistic</a:t>
            </a:r>
            <a:r>
              <a:rPr lang="pl-PL" b="1" dirty="0"/>
              <a:t> </a:t>
            </a:r>
            <a:r>
              <a:rPr lang="pl-PL" b="1" dirty="0" err="1"/>
              <a:t>regression</a:t>
            </a:r>
            <a:br>
              <a:rPr lang="en-GB" b="1" dirty="0"/>
            </a:br>
            <a:r>
              <a:rPr lang="pl-PL" dirty="0"/>
              <a:t>(</a:t>
            </a:r>
            <a:r>
              <a:rPr lang="pl-PL" dirty="0" err="1"/>
              <a:t>based</a:t>
            </a:r>
            <a:r>
              <a:rPr lang="pl-PL" dirty="0"/>
              <a:t> on Diabetees.csv)</a:t>
            </a:r>
            <a:br>
              <a:rPr lang="en-GB" dirty="0"/>
            </a:br>
            <a:br>
              <a:rPr lang="en-GB" dirty="0"/>
            </a:br>
            <a:br>
              <a:rPr lang="en-GB" dirty="0"/>
            </a:br>
            <a:r>
              <a:rPr lang="en-GB" sz="3300" i="1" dirty="0"/>
              <a:t>by Karaliova Sviatlana</a:t>
            </a:r>
            <a:endParaRPr lang="en-US" sz="3300" i="1" dirty="0"/>
          </a:p>
        </p:txBody>
      </p:sp>
      <p:sp>
        <p:nvSpPr>
          <p:cNvPr id="3" name="Slide Number Placeholder 2">
            <a:extLst>
              <a:ext uri="{FF2B5EF4-FFF2-40B4-BE49-F238E27FC236}">
                <a16:creationId xmlns:a16="http://schemas.microsoft.com/office/drawing/2014/main" id="{585796F5-E1BD-BF7E-C278-B627DB0C9BBF}"/>
              </a:ext>
            </a:extLst>
          </p:cNvPr>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3770560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04D19-2A6B-4EC2-22FC-B0C59A60C477}"/>
              </a:ext>
            </a:extLst>
          </p:cNvPr>
          <p:cNvSpPr>
            <a:spLocks noGrp="1"/>
          </p:cNvSpPr>
          <p:nvPr>
            <p:ph type="title"/>
          </p:nvPr>
        </p:nvSpPr>
        <p:spPr>
          <a:xfrm>
            <a:off x="838200" y="365125"/>
            <a:ext cx="5405651" cy="6144857"/>
          </a:xfrm>
        </p:spPr>
        <p:txBody>
          <a:bodyPr anchor="t">
            <a:normAutofit fontScale="90000"/>
          </a:bodyPr>
          <a:lstStyle/>
          <a:p>
            <a:r>
              <a:rPr lang="pl-PL" sz="1400" b="1" dirty="0"/>
              <a:t>1. </a:t>
            </a:r>
            <a:r>
              <a:rPr lang="en-US" sz="1400" b="1" dirty="0"/>
              <a:t>Basic data exploration</a:t>
            </a:r>
            <a:br>
              <a:rPr lang="pl-PL" sz="1400" dirty="0"/>
            </a:br>
            <a:r>
              <a:rPr lang="en-GB" sz="1400" dirty="0"/>
              <a:t> - </a:t>
            </a:r>
            <a:r>
              <a:rPr lang="en-US" sz="1400" dirty="0" err="1"/>
              <a:t>df.shape</a:t>
            </a:r>
            <a:r>
              <a:rPr lang="en-US" sz="1400" dirty="0"/>
              <a:t> tells there are 403 rows and 15 columns (patients and their measurements)</a:t>
            </a:r>
            <a:r>
              <a:rPr lang="pl-PL" sz="1400" dirty="0"/>
              <a:t>;</a:t>
            </a:r>
            <a:br>
              <a:rPr lang="pl-PL" sz="1400" dirty="0"/>
            </a:br>
            <a:r>
              <a:rPr lang="en-GB" sz="1400" dirty="0"/>
              <a:t> - </a:t>
            </a:r>
            <a:r>
              <a:rPr lang="en-US" sz="1400" dirty="0"/>
              <a:t>types: float64(10), int64(3), object(2)</a:t>
            </a:r>
            <a:r>
              <a:rPr lang="pl-PL" sz="1400" dirty="0"/>
              <a:t>;</a:t>
            </a:r>
            <a:br>
              <a:rPr lang="pl-PL" sz="1400" dirty="0"/>
            </a:br>
            <a:r>
              <a:rPr lang="en-GB" sz="1400" dirty="0"/>
              <a:t> - c</a:t>
            </a:r>
            <a:r>
              <a:rPr lang="en-US" sz="1400" dirty="0" err="1"/>
              <a:t>olumns</a:t>
            </a:r>
            <a:r>
              <a:rPr lang="en-US" sz="1400" dirty="0"/>
              <a:t> </a:t>
            </a:r>
            <a:r>
              <a:rPr lang="pl-PL" sz="1400" dirty="0"/>
              <a:t> </a:t>
            </a:r>
            <a:r>
              <a:rPr lang="pl-PL" sz="1400" dirty="0" err="1"/>
              <a:t>that</a:t>
            </a:r>
            <a:r>
              <a:rPr lang="pl-PL" sz="1400" dirty="0"/>
              <a:t> </a:t>
            </a:r>
            <a:r>
              <a:rPr lang="en-US" sz="1400" dirty="0"/>
              <a:t>have missing values (e.g. </a:t>
            </a:r>
            <a:r>
              <a:rPr lang="en-US" sz="1400" dirty="0" err="1"/>
              <a:t>chol</a:t>
            </a:r>
            <a:r>
              <a:rPr lang="en-US" sz="1400" dirty="0"/>
              <a:t>, </a:t>
            </a:r>
            <a:r>
              <a:rPr lang="en-US" sz="1400" dirty="0" err="1"/>
              <a:t>hdl</a:t>
            </a:r>
            <a:r>
              <a:rPr lang="en-US" sz="1400" dirty="0"/>
              <a:t>, </a:t>
            </a:r>
            <a:r>
              <a:rPr lang="en-US" sz="1400" dirty="0" err="1"/>
              <a:t>glyhb</a:t>
            </a:r>
            <a:r>
              <a:rPr lang="en-US" sz="1400" dirty="0"/>
              <a:t>, height, frame)</a:t>
            </a:r>
            <a:r>
              <a:rPr lang="pl-PL" sz="1400" dirty="0"/>
              <a:t>;</a:t>
            </a:r>
            <a:br>
              <a:rPr lang="pl-PL" sz="1400" dirty="0"/>
            </a:br>
            <a:br>
              <a:rPr lang="en-GB" sz="1400" dirty="0"/>
            </a:br>
            <a:r>
              <a:rPr lang="en-US" sz="1400" dirty="0"/>
              <a:t>The dataset is mostly complete, with a small amount of missing data in some variables.</a:t>
            </a:r>
            <a:br>
              <a:rPr lang="pl-PL" sz="1400" dirty="0"/>
            </a:br>
            <a:br>
              <a:rPr lang="en-GB" sz="1400" dirty="0"/>
            </a:br>
            <a:r>
              <a:rPr lang="pl-PL" sz="1400" b="1" dirty="0"/>
              <a:t>2. </a:t>
            </a:r>
            <a:r>
              <a:rPr lang="en-US" sz="1400" b="1" dirty="0"/>
              <a:t>Creating the target variable (</a:t>
            </a:r>
            <a:r>
              <a:rPr lang="en-US" sz="1400" b="1" dirty="0" err="1"/>
              <a:t>has_diabetes</a:t>
            </a:r>
            <a:r>
              <a:rPr lang="en-US" sz="1400" b="1" dirty="0"/>
              <a:t>)</a:t>
            </a:r>
            <a:br>
              <a:rPr lang="en-US" sz="1400" dirty="0"/>
            </a:br>
            <a:r>
              <a:rPr lang="en-US" sz="1400" dirty="0"/>
              <a:t>- HbA1c (</a:t>
            </a:r>
            <a:r>
              <a:rPr lang="en-US" sz="1400" dirty="0" err="1"/>
              <a:t>glyhb</a:t>
            </a:r>
            <a:r>
              <a:rPr lang="en-US" sz="1400" dirty="0"/>
              <a:t>) ≥ 6.5 indicates the person has diabetes;</a:t>
            </a:r>
            <a:br>
              <a:rPr lang="en-US" sz="1400" dirty="0"/>
            </a:br>
            <a:r>
              <a:rPr lang="en-US" sz="1400" dirty="0"/>
              <a:t>- Create a new binary column </a:t>
            </a:r>
            <a:r>
              <a:rPr lang="en-US" sz="1400" dirty="0" err="1"/>
              <a:t>has_diabetes</a:t>
            </a:r>
            <a:r>
              <a:rPr lang="en-US" sz="1400" dirty="0"/>
              <a:t> = 1 if </a:t>
            </a:r>
            <a:r>
              <a:rPr lang="en-US" sz="1400" dirty="0" err="1"/>
              <a:t>glyhb</a:t>
            </a:r>
            <a:r>
              <a:rPr lang="en-US" sz="1400" dirty="0"/>
              <a:t> ≥ 6.5, else 0</a:t>
            </a:r>
            <a:r>
              <a:rPr lang="pl-PL" sz="1400" dirty="0"/>
              <a:t>;</a:t>
            </a:r>
            <a:br>
              <a:rPr lang="pl-PL" sz="1400" dirty="0"/>
            </a:br>
            <a:br>
              <a:rPr lang="pl-PL" sz="1400" dirty="0"/>
            </a:br>
            <a:r>
              <a:rPr lang="en-US" sz="1400" dirty="0"/>
              <a:t>So the classes are imbalanced (more healthy than diabetic), which we’ll keep in mind when evaluating the model.</a:t>
            </a:r>
            <a:br>
              <a:rPr lang="pl-PL" sz="1400" dirty="0"/>
            </a:br>
            <a:br>
              <a:rPr lang="pl-PL" sz="1400" dirty="0"/>
            </a:br>
            <a:r>
              <a:rPr lang="pl-PL" sz="1400" b="1" dirty="0"/>
              <a:t>3.</a:t>
            </a:r>
            <a:r>
              <a:rPr lang="en-GB" sz="1400" b="1" dirty="0"/>
              <a:t> </a:t>
            </a:r>
            <a:r>
              <a:rPr lang="en-US" sz="1600" b="1" dirty="0"/>
              <a:t>Distributions of key features</a:t>
            </a:r>
            <a:r>
              <a:rPr lang="pl-PL" sz="1600" b="1" dirty="0"/>
              <a:t> (</a:t>
            </a:r>
            <a:r>
              <a:rPr lang="pl-PL" sz="1600" b="1" dirty="0" err="1"/>
              <a:t>glyhb</a:t>
            </a:r>
            <a:r>
              <a:rPr lang="pl-PL" sz="1600" b="1" dirty="0"/>
              <a:t>, </a:t>
            </a:r>
            <a:r>
              <a:rPr lang="pl-PL" sz="1600" b="1" dirty="0" err="1"/>
              <a:t>age</a:t>
            </a:r>
            <a:r>
              <a:rPr lang="pl-PL" sz="1600" b="1" dirty="0"/>
              <a:t> </a:t>
            </a:r>
            <a:r>
              <a:rPr lang="pl-PL" sz="1600" b="1" dirty="0" err="1"/>
              <a:t>distribution</a:t>
            </a:r>
            <a:r>
              <a:rPr lang="pl-PL" sz="1600" b="1" dirty="0"/>
              <a:t>, </a:t>
            </a:r>
            <a:r>
              <a:rPr lang="pl-PL" sz="1600" b="1" dirty="0" err="1"/>
              <a:t>fasting</a:t>
            </a:r>
            <a:r>
              <a:rPr lang="pl-PL" sz="1600" b="1" dirty="0"/>
              <a:t> </a:t>
            </a:r>
            <a:r>
              <a:rPr lang="pl-PL" sz="1600" b="1" dirty="0" err="1"/>
              <a:t>glucose</a:t>
            </a:r>
            <a:r>
              <a:rPr lang="pl-PL" sz="1600" b="1" dirty="0"/>
              <a:t> </a:t>
            </a:r>
            <a:r>
              <a:rPr lang="pl-PL" sz="1600" b="1" dirty="0" err="1"/>
              <a:t>distribution</a:t>
            </a:r>
            <a:r>
              <a:rPr lang="pl-PL" sz="1600" b="1" dirty="0"/>
              <a:t> (</a:t>
            </a:r>
            <a:r>
              <a:rPr lang="pl-PL" sz="1600" b="1" dirty="0" err="1"/>
              <a:t>stab.glu</a:t>
            </a:r>
            <a:r>
              <a:rPr lang="pl-PL" sz="1600" b="1" dirty="0"/>
              <a:t>))</a:t>
            </a:r>
            <a:br>
              <a:rPr lang="pl-PL" sz="1600" dirty="0"/>
            </a:br>
            <a:br>
              <a:rPr lang="pl-PL" sz="1600" dirty="0"/>
            </a:br>
            <a:r>
              <a:rPr lang="en-US" sz="1600" dirty="0"/>
              <a:t>People labelled as diabetic have significantly higher </a:t>
            </a:r>
            <a:r>
              <a:rPr lang="en-US" sz="1600" dirty="0" err="1"/>
              <a:t>glyhb</a:t>
            </a:r>
            <a:r>
              <a:rPr lang="en-US" sz="1600" dirty="0"/>
              <a:t> values.</a:t>
            </a:r>
            <a:r>
              <a:rPr lang="pl-PL" sz="1600" dirty="0"/>
              <a:t> </a:t>
            </a:r>
            <a:br>
              <a:rPr lang="en-US" sz="1600" dirty="0"/>
            </a:br>
            <a:r>
              <a:rPr lang="en-US" sz="1600" dirty="0"/>
              <a:t>This validates our target definition.</a:t>
            </a:r>
            <a:br>
              <a:rPr lang="pl-PL" sz="1600" dirty="0"/>
            </a:br>
            <a:br>
              <a:rPr lang="en-GB" sz="1600" dirty="0"/>
            </a:br>
            <a:r>
              <a:rPr lang="pl-PL" sz="1600" b="1" dirty="0"/>
              <a:t>4. </a:t>
            </a:r>
            <a:r>
              <a:rPr lang="pl-PL" sz="1600" b="1" dirty="0" err="1"/>
              <a:t>Correlation</a:t>
            </a:r>
            <a:r>
              <a:rPr lang="pl-PL" sz="1600" b="1" dirty="0"/>
              <a:t> </a:t>
            </a:r>
            <a:r>
              <a:rPr lang="pl-PL" sz="1600" b="1" dirty="0" err="1"/>
              <a:t>between</a:t>
            </a:r>
            <a:r>
              <a:rPr lang="pl-PL" sz="1600" b="1" dirty="0"/>
              <a:t> </a:t>
            </a:r>
            <a:r>
              <a:rPr lang="pl-PL" sz="1600" b="1" dirty="0" err="1"/>
              <a:t>numeric</a:t>
            </a:r>
            <a:r>
              <a:rPr lang="pl-PL" sz="1600" b="1" dirty="0"/>
              <a:t> </a:t>
            </a:r>
            <a:r>
              <a:rPr lang="pl-PL" sz="1600" b="1" dirty="0" err="1"/>
              <a:t>variables</a:t>
            </a:r>
            <a:br>
              <a:rPr lang="en-GB" sz="1600" dirty="0"/>
            </a:br>
            <a:br>
              <a:rPr lang="en-GB" sz="1600" dirty="0"/>
            </a:br>
            <a:r>
              <a:rPr lang="en-GB" sz="1600" dirty="0"/>
              <a:t>S</a:t>
            </a:r>
            <a:r>
              <a:rPr lang="en-US" sz="1600" dirty="0" err="1"/>
              <a:t>trong</a:t>
            </a:r>
            <a:r>
              <a:rPr lang="en-US" sz="1600" dirty="0"/>
              <a:t> positive correlation of </a:t>
            </a:r>
            <a:r>
              <a:rPr lang="en-US" sz="1600" dirty="0" err="1"/>
              <a:t>has_diabetes</a:t>
            </a:r>
            <a:r>
              <a:rPr lang="en-US" sz="1600" dirty="0"/>
              <a:t> with:</a:t>
            </a:r>
            <a:br>
              <a:rPr lang="en-US" sz="1600" dirty="0"/>
            </a:br>
            <a:r>
              <a:rPr lang="en-US" sz="1600" dirty="0"/>
              <a:t>- </a:t>
            </a:r>
            <a:r>
              <a:rPr lang="en-US" sz="1600" dirty="0" err="1"/>
              <a:t>glyhb</a:t>
            </a:r>
            <a:r>
              <a:rPr lang="en-US" sz="1600" dirty="0"/>
              <a:t> (by definition)</a:t>
            </a:r>
            <a:r>
              <a:rPr lang="pl-PL" sz="1600" dirty="0"/>
              <a:t>;</a:t>
            </a:r>
            <a:br>
              <a:rPr lang="en-GB" sz="1600" dirty="0"/>
            </a:br>
            <a:r>
              <a:rPr lang="en-GB" sz="1600" dirty="0"/>
              <a:t>- </a:t>
            </a:r>
            <a:r>
              <a:rPr lang="en-US" sz="1600" dirty="0" err="1"/>
              <a:t>stab.glu</a:t>
            </a:r>
            <a:r>
              <a:rPr lang="en-US" sz="1600" dirty="0"/>
              <a:t> (fasting glucose)</a:t>
            </a:r>
            <a:r>
              <a:rPr lang="pl-PL" sz="1600" dirty="0"/>
              <a:t>;</a:t>
            </a:r>
            <a:br>
              <a:rPr lang="en-GB" sz="1600" dirty="0"/>
            </a:br>
            <a:r>
              <a:rPr lang="en-GB" sz="1600" dirty="0"/>
              <a:t>- </a:t>
            </a:r>
            <a:r>
              <a:rPr lang="en-US" sz="1600" dirty="0"/>
              <a:t>age, ratio, </a:t>
            </a:r>
            <a:r>
              <a:rPr lang="en-US" sz="1600" dirty="0" err="1"/>
              <a:t>chol</a:t>
            </a:r>
            <a:r>
              <a:rPr lang="en-US" sz="1600" dirty="0"/>
              <a:t>, waist, bp.1s.</a:t>
            </a:r>
            <a:br>
              <a:rPr lang="en-US" sz="1600" dirty="0"/>
            </a:br>
            <a:r>
              <a:rPr lang="en-US" sz="1600" dirty="0"/>
              <a:t>- slight negative correlation with </a:t>
            </a:r>
            <a:r>
              <a:rPr lang="en-US" sz="1600" dirty="0" err="1"/>
              <a:t>hdl</a:t>
            </a:r>
            <a:r>
              <a:rPr lang="en-US" sz="1600" dirty="0"/>
              <a:t> (“good” cholesterol).</a:t>
            </a:r>
            <a:br>
              <a:rPr lang="en-US" dirty="0"/>
            </a:br>
            <a:br>
              <a:rPr lang="en-US" sz="1400" dirty="0"/>
            </a:br>
            <a:br>
              <a:rPr lang="en-US" sz="1400" dirty="0"/>
            </a:br>
            <a:br>
              <a:rPr lang="pl-PL" sz="1400" dirty="0"/>
            </a:br>
            <a:br>
              <a:rPr lang="pl-PL" sz="1400" dirty="0"/>
            </a:br>
            <a:br>
              <a:rPr lang="pl-PL" sz="1400" dirty="0"/>
            </a:br>
            <a:br>
              <a:rPr lang="en-US" sz="1400" dirty="0"/>
            </a:br>
            <a:br>
              <a:rPr lang="pl-PL" sz="1400" dirty="0"/>
            </a:br>
            <a:br>
              <a:rPr lang="en-US" sz="1400" dirty="0"/>
            </a:br>
            <a:br>
              <a:rPr lang="en-US" sz="1400" dirty="0"/>
            </a:br>
            <a:br>
              <a:rPr lang="en-US" sz="1400" dirty="0"/>
            </a:br>
            <a:br>
              <a:rPr lang="en-US" sz="1400" dirty="0"/>
            </a:br>
            <a:endParaRPr lang="en-US" sz="1400" dirty="0"/>
          </a:p>
        </p:txBody>
      </p:sp>
      <p:pic>
        <p:nvPicPr>
          <p:cNvPr id="4" name="Picture 3">
            <a:extLst>
              <a:ext uri="{FF2B5EF4-FFF2-40B4-BE49-F238E27FC236}">
                <a16:creationId xmlns:a16="http://schemas.microsoft.com/office/drawing/2014/main" id="{030C536D-FAB3-4F9A-D55E-0DB775546FEF}"/>
              </a:ext>
            </a:extLst>
          </p:cNvPr>
          <p:cNvPicPr>
            <a:picLocks noChangeAspect="1"/>
          </p:cNvPicPr>
          <p:nvPr/>
        </p:nvPicPr>
        <p:blipFill>
          <a:blip r:embed="rId2"/>
          <a:stretch>
            <a:fillRect/>
          </a:stretch>
        </p:blipFill>
        <p:spPr>
          <a:xfrm>
            <a:off x="6445647" y="302960"/>
            <a:ext cx="5143577" cy="1143704"/>
          </a:xfrm>
          <a:prstGeom prst="rect">
            <a:avLst/>
          </a:prstGeom>
        </p:spPr>
      </p:pic>
      <p:pic>
        <p:nvPicPr>
          <p:cNvPr id="5" name="Picture 4">
            <a:extLst>
              <a:ext uri="{FF2B5EF4-FFF2-40B4-BE49-F238E27FC236}">
                <a16:creationId xmlns:a16="http://schemas.microsoft.com/office/drawing/2014/main" id="{F0C94F80-2FC4-588E-531C-3107B4AA6839}"/>
              </a:ext>
            </a:extLst>
          </p:cNvPr>
          <p:cNvPicPr>
            <a:picLocks noChangeAspect="1"/>
          </p:cNvPicPr>
          <p:nvPr/>
        </p:nvPicPr>
        <p:blipFill>
          <a:blip r:embed="rId3"/>
          <a:stretch>
            <a:fillRect/>
          </a:stretch>
        </p:blipFill>
        <p:spPr>
          <a:xfrm>
            <a:off x="6450153" y="1655885"/>
            <a:ext cx="2238687" cy="924054"/>
          </a:xfrm>
          <a:prstGeom prst="rect">
            <a:avLst/>
          </a:prstGeom>
        </p:spPr>
      </p:pic>
      <p:pic>
        <p:nvPicPr>
          <p:cNvPr id="8" name="Picture 7">
            <a:extLst>
              <a:ext uri="{FF2B5EF4-FFF2-40B4-BE49-F238E27FC236}">
                <a16:creationId xmlns:a16="http://schemas.microsoft.com/office/drawing/2014/main" id="{D8447765-902A-2527-BBC3-A4789CFF8E76}"/>
              </a:ext>
            </a:extLst>
          </p:cNvPr>
          <p:cNvPicPr>
            <a:picLocks noChangeAspect="1"/>
          </p:cNvPicPr>
          <p:nvPr/>
        </p:nvPicPr>
        <p:blipFill>
          <a:blip r:embed="rId4"/>
          <a:stretch>
            <a:fillRect/>
          </a:stretch>
        </p:blipFill>
        <p:spPr>
          <a:xfrm>
            <a:off x="6445647" y="4436425"/>
            <a:ext cx="2647797" cy="1955297"/>
          </a:xfrm>
          <a:prstGeom prst="rect">
            <a:avLst/>
          </a:prstGeom>
        </p:spPr>
      </p:pic>
      <p:pic>
        <p:nvPicPr>
          <p:cNvPr id="9" name="Picture 8">
            <a:extLst>
              <a:ext uri="{FF2B5EF4-FFF2-40B4-BE49-F238E27FC236}">
                <a16:creationId xmlns:a16="http://schemas.microsoft.com/office/drawing/2014/main" id="{C23999DF-43A8-9854-F57C-2BAEE53F1496}"/>
              </a:ext>
            </a:extLst>
          </p:cNvPr>
          <p:cNvPicPr>
            <a:picLocks noChangeAspect="1"/>
          </p:cNvPicPr>
          <p:nvPr/>
        </p:nvPicPr>
        <p:blipFill>
          <a:blip r:embed="rId5"/>
          <a:stretch>
            <a:fillRect/>
          </a:stretch>
        </p:blipFill>
        <p:spPr>
          <a:xfrm>
            <a:off x="6538272" y="2739650"/>
            <a:ext cx="1583124" cy="1164597"/>
          </a:xfrm>
          <a:prstGeom prst="rect">
            <a:avLst/>
          </a:prstGeom>
        </p:spPr>
      </p:pic>
      <p:pic>
        <p:nvPicPr>
          <p:cNvPr id="10" name="Picture 9">
            <a:extLst>
              <a:ext uri="{FF2B5EF4-FFF2-40B4-BE49-F238E27FC236}">
                <a16:creationId xmlns:a16="http://schemas.microsoft.com/office/drawing/2014/main" id="{713D95D6-5D33-57DB-D59F-7B5E65D05434}"/>
              </a:ext>
            </a:extLst>
          </p:cNvPr>
          <p:cNvPicPr>
            <a:picLocks noChangeAspect="1"/>
          </p:cNvPicPr>
          <p:nvPr/>
        </p:nvPicPr>
        <p:blipFill>
          <a:blip r:embed="rId6"/>
          <a:stretch>
            <a:fillRect/>
          </a:stretch>
        </p:blipFill>
        <p:spPr>
          <a:xfrm>
            <a:off x="8434969" y="2739650"/>
            <a:ext cx="1574921" cy="1164597"/>
          </a:xfrm>
          <a:prstGeom prst="rect">
            <a:avLst/>
          </a:prstGeom>
        </p:spPr>
      </p:pic>
      <p:pic>
        <p:nvPicPr>
          <p:cNvPr id="11" name="Picture 10">
            <a:extLst>
              <a:ext uri="{FF2B5EF4-FFF2-40B4-BE49-F238E27FC236}">
                <a16:creationId xmlns:a16="http://schemas.microsoft.com/office/drawing/2014/main" id="{C5DC5F13-F799-5078-D9B0-BE84C3669A64}"/>
              </a:ext>
            </a:extLst>
          </p:cNvPr>
          <p:cNvPicPr>
            <a:picLocks noChangeAspect="1"/>
          </p:cNvPicPr>
          <p:nvPr/>
        </p:nvPicPr>
        <p:blipFill>
          <a:blip r:embed="rId7"/>
          <a:stretch>
            <a:fillRect/>
          </a:stretch>
        </p:blipFill>
        <p:spPr>
          <a:xfrm>
            <a:off x="10110428" y="2739650"/>
            <a:ext cx="1661090" cy="1202431"/>
          </a:xfrm>
          <a:prstGeom prst="rect">
            <a:avLst/>
          </a:prstGeom>
        </p:spPr>
      </p:pic>
      <p:pic>
        <p:nvPicPr>
          <p:cNvPr id="13" name="Picture 12">
            <a:extLst>
              <a:ext uri="{FF2B5EF4-FFF2-40B4-BE49-F238E27FC236}">
                <a16:creationId xmlns:a16="http://schemas.microsoft.com/office/drawing/2014/main" id="{7D85AC49-E522-9A99-F866-E4D72EF9B9B0}"/>
              </a:ext>
            </a:extLst>
          </p:cNvPr>
          <p:cNvPicPr>
            <a:picLocks noChangeAspect="1"/>
          </p:cNvPicPr>
          <p:nvPr/>
        </p:nvPicPr>
        <p:blipFill>
          <a:blip r:embed="rId8"/>
          <a:stretch>
            <a:fillRect/>
          </a:stretch>
        </p:blipFill>
        <p:spPr>
          <a:xfrm>
            <a:off x="9295240" y="4376616"/>
            <a:ext cx="2476278" cy="2178424"/>
          </a:xfrm>
          <a:prstGeom prst="rect">
            <a:avLst/>
          </a:prstGeom>
        </p:spPr>
      </p:pic>
      <p:sp>
        <p:nvSpPr>
          <p:cNvPr id="14" name="Slide Number Placeholder 13">
            <a:extLst>
              <a:ext uri="{FF2B5EF4-FFF2-40B4-BE49-F238E27FC236}">
                <a16:creationId xmlns:a16="http://schemas.microsoft.com/office/drawing/2014/main" id="{B09E3E82-E468-8605-B21B-05353EF2772D}"/>
              </a:ext>
            </a:extLst>
          </p:cNvPr>
          <p:cNvSpPr>
            <a:spLocks noGrp="1"/>
          </p:cNvSpPr>
          <p:nvPr>
            <p:ph type="sldNum" sz="quarter" idx="12"/>
          </p:nvPr>
        </p:nvSpPr>
        <p:spPr>
          <a:xfrm>
            <a:off x="9401633" y="6391722"/>
            <a:ext cx="2743200" cy="365125"/>
          </a:xfrm>
        </p:spPr>
        <p:txBody>
          <a:bodyPr/>
          <a:lstStyle/>
          <a:p>
            <a:r>
              <a:rPr lang="en-GB" dirty="0"/>
              <a:t>1</a:t>
            </a:r>
            <a:endParaRPr lang="en-US" dirty="0"/>
          </a:p>
        </p:txBody>
      </p:sp>
    </p:spTree>
    <p:extLst>
      <p:ext uri="{BB962C8B-B14F-4D97-AF65-F5344CB8AC3E}">
        <p14:creationId xmlns:p14="http://schemas.microsoft.com/office/powerpoint/2010/main" val="3472975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F24B0-1F2C-A46C-CDCF-9C0EC1D90381}"/>
              </a:ext>
            </a:extLst>
          </p:cNvPr>
          <p:cNvSpPr>
            <a:spLocks noGrp="1"/>
          </p:cNvSpPr>
          <p:nvPr>
            <p:ph type="title"/>
          </p:nvPr>
        </p:nvSpPr>
        <p:spPr>
          <a:xfrm>
            <a:off x="730623" y="365123"/>
            <a:ext cx="5159188" cy="6351681"/>
          </a:xfrm>
        </p:spPr>
        <p:txBody>
          <a:bodyPr anchor="t">
            <a:normAutofit/>
          </a:bodyPr>
          <a:lstStyle/>
          <a:p>
            <a:r>
              <a:rPr lang="pl-PL" sz="1400" b="1" dirty="0"/>
              <a:t>5. Train/test </a:t>
            </a:r>
            <a:r>
              <a:rPr lang="pl-PL" sz="1400" b="1" dirty="0" err="1"/>
              <a:t>split</a:t>
            </a:r>
            <a:br>
              <a:rPr lang="pl-PL" sz="1400" dirty="0"/>
            </a:br>
            <a:br>
              <a:rPr lang="pl-PL" sz="1400" dirty="0"/>
            </a:br>
            <a:br>
              <a:rPr lang="en-GB" sz="1400" dirty="0"/>
            </a:br>
            <a:r>
              <a:rPr lang="pl-PL" sz="1400" b="1" dirty="0"/>
              <a:t>6.</a:t>
            </a:r>
            <a:r>
              <a:rPr lang="en-US" sz="1400" b="1" dirty="0"/>
              <a:t> Preprocessing + Logistic Regression pipeline</a:t>
            </a:r>
            <a:br>
              <a:rPr lang="en-US" sz="1400" dirty="0"/>
            </a:br>
            <a:br>
              <a:rPr lang="en-US" sz="1400" dirty="0"/>
            </a:br>
            <a:r>
              <a:rPr lang="en-US" sz="1400" dirty="0"/>
              <a:t>Build a Pipeline that:</a:t>
            </a:r>
            <a:br>
              <a:rPr lang="en-US" sz="1400" dirty="0"/>
            </a:br>
            <a:r>
              <a:rPr lang="en-US" sz="1400" dirty="0"/>
              <a:t>- imputes missing numeric values with median and scales them;</a:t>
            </a:r>
            <a:br>
              <a:rPr lang="en-US" sz="1400" dirty="0"/>
            </a:br>
            <a:r>
              <a:rPr lang="en-US" sz="1400" dirty="0"/>
              <a:t>- imputes missing categorical values with most frequent and one-hot encodes them;</a:t>
            </a:r>
            <a:br>
              <a:rPr lang="en-US" sz="1400" dirty="0"/>
            </a:br>
            <a:r>
              <a:rPr lang="en-US" sz="1400" dirty="0"/>
              <a:t>- trains a Logistic Regression model with </a:t>
            </a:r>
            <a:r>
              <a:rPr lang="en-US" sz="1400" dirty="0" err="1"/>
              <a:t>class_weight</a:t>
            </a:r>
            <a:r>
              <a:rPr lang="en-US" sz="1400" dirty="0"/>
              <a:t>="balanced" to handle class imbalance;</a:t>
            </a:r>
            <a:br>
              <a:rPr lang="pl-PL" sz="1400" dirty="0"/>
            </a:br>
            <a:r>
              <a:rPr lang="pl-PL" sz="1400" dirty="0"/>
              <a:t>- </a:t>
            </a:r>
            <a:r>
              <a:rPr lang="en-US" sz="1400" dirty="0"/>
              <a:t>using a pipeline ensures that all preprocessing happens inside the cross-validation and training steps consistently;</a:t>
            </a:r>
            <a:br>
              <a:rPr lang="en-US" sz="1400" dirty="0"/>
            </a:br>
            <a:r>
              <a:rPr lang="en-US" sz="1400" dirty="0"/>
              <a:t>- scaling is important for Logistic Regression so that coefficients are on comparable scales.</a:t>
            </a:r>
            <a:br>
              <a:rPr lang="pl-PL" sz="1400" dirty="0"/>
            </a:br>
            <a:endParaRPr lang="en-US" sz="1400" dirty="0"/>
          </a:p>
        </p:txBody>
      </p:sp>
      <p:pic>
        <p:nvPicPr>
          <p:cNvPr id="7" name="Picture 6" descr="A black screen with white text&#10;&#10;AI-generated content may be incorrect.">
            <a:extLst>
              <a:ext uri="{FF2B5EF4-FFF2-40B4-BE49-F238E27FC236}">
                <a16:creationId xmlns:a16="http://schemas.microsoft.com/office/drawing/2014/main" id="{3EE228D5-32FB-4DDB-DAE1-9305E8090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0199" y="365123"/>
            <a:ext cx="3628462" cy="1134859"/>
          </a:xfrm>
          <a:prstGeom prst="rect">
            <a:avLst/>
          </a:prstGeom>
        </p:spPr>
      </p:pic>
      <p:pic>
        <p:nvPicPr>
          <p:cNvPr id="9" name="Picture 8" descr="A black screen with white text&#10;&#10;AI-generated content may be incorrect.">
            <a:extLst>
              <a:ext uri="{FF2B5EF4-FFF2-40B4-BE49-F238E27FC236}">
                <a16:creationId xmlns:a16="http://schemas.microsoft.com/office/drawing/2014/main" id="{2F9FBF62-32D9-8805-0653-CA17127BF4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785" y="3408828"/>
            <a:ext cx="1784005" cy="604547"/>
          </a:xfrm>
          <a:prstGeom prst="rect">
            <a:avLst/>
          </a:prstGeom>
        </p:spPr>
      </p:pic>
      <p:pic>
        <p:nvPicPr>
          <p:cNvPr id="11" name="Picture 10">
            <a:extLst>
              <a:ext uri="{FF2B5EF4-FFF2-40B4-BE49-F238E27FC236}">
                <a16:creationId xmlns:a16="http://schemas.microsoft.com/office/drawing/2014/main" id="{6B703A0A-724B-FB3E-7AD9-0AE7D7720C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0199" y="1620877"/>
            <a:ext cx="4194548" cy="4863089"/>
          </a:xfrm>
          <a:prstGeom prst="rect">
            <a:avLst/>
          </a:prstGeom>
        </p:spPr>
      </p:pic>
      <p:sp>
        <p:nvSpPr>
          <p:cNvPr id="15" name="Slide Number Placeholder 14">
            <a:extLst>
              <a:ext uri="{FF2B5EF4-FFF2-40B4-BE49-F238E27FC236}">
                <a16:creationId xmlns:a16="http://schemas.microsoft.com/office/drawing/2014/main" id="{40883217-9791-43E2-0610-C9758F0DD09A}"/>
              </a:ext>
            </a:extLst>
          </p:cNvPr>
          <p:cNvSpPr>
            <a:spLocks noGrp="1"/>
          </p:cNvSpPr>
          <p:nvPr>
            <p:ph type="sldNum" sz="quarter" idx="12"/>
          </p:nvPr>
        </p:nvSpPr>
        <p:spPr>
          <a:xfrm>
            <a:off x="9373535" y="6422298"/>
            <a:ext cx="2743200" cy="365125"/>
          </a:xfrm>
        </p:spPr>
        <p:txBody>
          <a:bodyPr/>
          <a:lstStyle/>
          <a:p>
            <a:r>
              <a:rPr lang="en-GB" dirty="0"/>
              <a:t>2</a:t>
            </a:r>
            <a:endParaRPr lang="en-US" dirty="0"/>
          </a:p>
        </p:txBody>
      </p:sp>
    </p:spTree>
    <p:extLst>
      <p:ext uri="{BB962C8B-B14F-4D97-AF65-F5344CB8AC3E}">
        <p14:creationId xmlns:p14="http://schemas.microsoft.com/office/powerpoint/2010/main" val="2282966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283DB-7461-8003-3F9A-977F8E25B562}"/>
              </a:ext>
            </a:extLst>
          </p:cNvPr>
          <p:cNvSpPr>
            <a:spLocks noGrp="1"/>
          </p:cNvSpPr>
          <p:nvPr>
            <p:ph type="title"/>
          </p:nvPr>
        </p:nvSpPr>
        <p:spPr>
          <a:xfrm>
            <a:off x="838200" y="365125"/>
            <a:ext cx="5145741" cy="6392022"/>
          </a:xfrm>
        </p:spPr>
        <p:txBody>
          <a:bodyPr anchor="t">
            <a:normAutofit/>
          </a:bodyPr>
          <a:lstStyle/>
          <a:p>
            <a:r>
              <a:rPr lang="pl-PL" sz="1400" b="1" dirty="0"/>
              <a:t>7</a:t>
            </a:r>
            <a:r>
              <a:rPr lang="en-US" sz="1400" b="1" dirty="0"/>
              <a:t>. Train logistic regression and inspect coefficients</a:t>
            </a:r>
            <a:br>
              <a:rPr lang="en-US" sz="1400" dirty="0"/>
            </a:br>
            <a:r>
              <a:rPr lang="en-US" sz="1400" dirty="0"/>
              <a:t>Evaluate the model on the test set (threshold 0.5):</a:t>
            </a:r>
            <a:br>
              <a:rPr lang="pl-PL" sz="1400" dirty="0"/>
            </a:br>
            <a:r>
              <a:rPr lang="en-US" sz="1400" dirty="0"/>
              <a:t>- Accuracy ≈ 0.79</a:t>
            </a:r>
            <a:br>
              <a:rPr lang="en-US" sz="1400" dirty="0"/>
            </a:br>
            <a:r>
              <a:rPr lang="en-US" sz="1400" dirty="0"/>
              <a:t>For class 1 (diabetes):</a:t>
            </a:r>
            <a:br>
              <a:rPr lang="en-US" sz="1400" dirty="0"/>
            </a:br>
            <a:r>
              <a:rPr lang="en-US" sz="1400" dirty="0"/>
              <a:t>- recall ≈ 0.68 ( correctly identifying about 68% of diabetic patients);</a:t>
            </a:r>
            <a:br>
              <a:rPr lang="en-US" sz="1400" dirty="0"/>
            </a:br>
            <a:r>
              <a:rPr lang="en-US" sz="1400" dirty="0"/>
              <a:t>- precision ≈ 0.41 (many predicted diabetics are actually non-diabetic);</a:t>
            </a:r>
            <a:br>
              <a:rPr lang="en-US" sz="1400" dirty="0"/>
            </a:br>
            <a:r>
              <a:rPr lang="en-US" sz="1400" dirty="0"/>
              <a:t>- ROC AUC ≈ 0.88 (good discrimination between classes).</a:t>
            </a:r>
            <a:br>
              <a:rPr lang="en-US" sz="1400" dirty="0"/>
            </a:br>
            <a:br>
              <a:rPr lang="en-US" sz="1400" dirty="0"/>
            </a:br>
            <a:r>
              <a:rPr lang="pl-PL" sz="1400" dirty="0"/>
              <a:t>T</a:t>
            </a:r>
            <a:r>
              <a:rPr lang="en-US" sz="1400" dirty="0"/>
              <a:t>he model performs reasonably well, better than random, and can distinguish diabetics vs non-diabetics with good AUC.</a:t>
            </a:r>
            <a:br>
              <a:rPr lang="en-US" sz="1400" dirty="0"/>
            </a:br>
            <a:r>
              <a:rPr lang="en-US" sz="1400" dirty="0"/>
              <a:t>There is a trade-off: some diabetics (false negatives) missed and also wrongly classify some healthy patients as diabetic (false positives).</a:t>
            </a:r>
            <a:br>
              <a:rPr lang="pl-PL" sz="1400" dirty="0"/>
            </a:br>
            <a:br>
              <a:rPr lang="pl-PL" sz="1400" dirty="0"/>
            </a:br>
            <a:r>
              <a:rPr lang="pl-PL" sz="1400" b="1" dirty="0"/>
              <a:t>8.</a:t>
            </a:r>
            <a:r>
              <a:rPr lang="en-US" sz="1400" b="1" dirty="0"/>
              <a:t> Threshold tuning: different thresholds</a:t>
            </a:r>
            <a:r>
              <a:rPr lang="pl-PL" sz="1400" b="1" dirty="0"/>
              <a:t> (0.3, 0.7)</a:t>
            </a:r>
            <a:br>
              <a:rPr lang="pl-PL" sz="1400" dirty="0"/>
            </a:br>
            <a:r>
              <a:rPr lang="en-GB" sz="1400" dirty="0"/>
              <a:t> - t</a:t>
            </a:r>
            <a:r>
              <a:rPr lang="en-US" sz="1400" dirty="0" err="1"/>
              <a:t>hreshold</a:t>
            </a:r>
            <a:r>
              <a:rPr lang="en-US" sz="1400" dirty="0"/>
              <a:t> 0.3</a:t>
            </a:r>
            <a:r>
              <a:rPr lang="pl-PL" sz="1400" dirty="0"/>
              <a:t> - </a:t>
            </a:r>
            <a:r>
              <a:rPr lang="en-US" sz="1400" dirty="0"/>
              <a:t>Very high recall for diabetics</a:t>
            </a:r>
            <a:r>
              <a:rPr lang="pl-PL" sz="1400" dirty="0"/>
              <a:t>. </a:t>
            </a:r>
            <a:r>
              <a:rPr lang="en-US" sz="1400" dirty="0"/>
              <a:t>Lower precision and more false positives;</a:t>
            </a:r>
            <a:br>
              <a:rPr lang="en-US" sz="1400" dirty="0"/>
            </a:br>
            <a:r>
              <a:rPr lang="en-US" sz="1400" dirty="0"/>
              <a:t> - threshold 0.5 (default)</a:t>
            </a:r>
            <a:r>
              <a:rPr lang="pl-PL" sz="1400" dirty="0"/>
              <a:t> -  </a:t>
            </a:r>
            <a:r>
              <a:rPr lang="en-US" sz="1400" dirty="0"/>
              <a:t>Balanced trade-off between precision and recall;</a:t>
            </a:r>
            <a:br>
              <a:rPr lang="en-US" sz="1400" dirty="0"/>
            </a:br>
            <a:r>
              <a:rPr lang="en-US" sz="1400" dirty="0"/>
              <a:t> - threshold 0.7</a:t>
            </a:r>
            <a:r>
              <a:rPr lang="pl-PL" sz="1400" dirty="0"/>
              <a:t> - </a:t>
            </a:r>
            <a:r>
              <a:rPr lang="en-US" sz="1400" dirty="0"/>
              <a:t>Higher accuracy, but lower recall for diabetics (missing more diabetics)</a:t>
            </a:r>
            <a:r>
              <a:rPr lang="pl-PL" sz="1400" dirty="0"/>
              <a:t>.</a:t>
            </a:r>
            <a:br>
              <a:rPr lang="en-GB" sz="1400" dirty="0"/>
            </a:br>
            <a:br>
              <a:rPr lang="en-US" sz="1400" dirty="0"/>
            </a:br>
            <a:r>
              <a:rPr lang="en-US" sz="1400" dirty="0"/>
              <a:t>In a medical screening context, it may be more important to </a:t>
            </a:r>
            <a:r>
              <a:rPr lang="en-US" sz="1400" dirty="0" err="1"/>
              <a:t>maximise</a:t>
            </a:r>
            <a:r>
              <a:rPr lang="en-US" sz="1400" dirty="0"/>
              <a:t> recall (sensitivity) for the diabetic class, even at the cost of more false positives. Therefore, choosing a lower threshold (e.g., 0.3–0.4) might be appropriate depending on the clinical priorities.</a:t>
            </a:r>
            <a:br>
              <a:rPr lang="pl-PL" sz="1400" dirty="0"/>
            </a:br>
            <a:br>
              <a:rPr lang="pl-PL" sz="1400" dirty="0"/>
            </a:br>
            <a:r>
              <a:rPr lang="pl-PL" sz="1400" b="1" dirty="0"/>
              <a:t>9.</a:t>
            </a:r>
            <a:r>
              <a:rPr lang="en-US" sz="1400" b="1" dirty="0"/>
              <a:t> Cross-validation on the training set (ROC AUC and accuracy) </a:t>
            </a:r>
            <a:r>
              <a:rPr lang="en-US" sz="1400" dirty="0"/>
              <a:t>Cross-validation shows how stable the model is across different splits of the data.</a:t>
            </a:r>
            <a:r>
              <a:rPr lang="pl-PL" sz="1400" dirty="0"/>
              <a:t> </a:t>
            </a:r>
            <a:r>
              <a:rPr lang="en-US" sz="1400" dirty="0"/>
              <a:t>If mean CV ROC AUC and accuracy are similar to the test results, it can be said the model is not heavily overfitting.</a:t>
            </a:r>
          </a:p>
        </p:txBody>
      </p:sp>
      <p:pic>
        <p:nvPicPr>
          <p:cNvPr id="3" name="Picture 2">
            <a:extLst>
              <a:ext uri="{FF2B5EF4-FFF2-40B4-BE49-F238E27FC236}">
                <a16:creationId xmlns:a16="http://schemas.microsoft.com/office/drawing/2014/main" id="{0F044F13-6C7D-B0C2-5B4A-EF53F96EAE9D}"/>
              </a:ext>
            </a:extLst>
          </p:cNvPr>
          <p:cNvPicPr>
            <a:picLocks noChangeAspect="1"/>
          </p:cNvPicPr>
          <p:nvPr/>
        </p:nvPicPr>
        <p:blipFill>
          <a:blip r:embed="rId2"/>
          <a:stretch>
            <a:fillRect/>
          </a:stretch>
        </p:blipFill>
        <p:spPr>
          <a:xfrm>
            <a:off x="9359153" y="193416"/>
            <a:ext cx="2225489" cy="2347795"/>
          </a:xfrm>
          <a:prstGeom prst="rect">
            <a:avLst/>
          </a:prstGeom>
        </p:spPr>
      </p:pic>
      <p:pic>
        <p:nvPicPr>
          <p:cNvPr id="4" name="Picture 3">
            <a:extLst>
              <a:ext uri="{FF2B5EF4-FFF2-40B4-BE49-F238E27FC236}">
                <a16:creationId xmlns:a16="http://schemas.microsoft.com/office/drawing/2014/main" id="{BCBCE97A-CB8F-AB90-7155-1242D7355C99}"/>
              </a:ext>
            </a:extLst>
          </p:cNvPr>
          <p:cNvPicPr>
            <a:picLocks noChangeAspect="1"/>
          </p:cNvPicPr>
          <p:nvPr/>
        </p:nvPicPr>
        <p:blipFill>
          <a:blip r:embed="rId3"/>
          <a:stretch>
            <a:fillRect/>
          </a:stretch>
        </p:blipFill>
        <p:spPr>
          <a:xfrm>
            <a:off x="6829870" y="128743"/>
            <a:ext cx="2119148" cy="2253596"/>
          </a:xfrm>
          <a:prstGeom prst="rect">
            <a:avLst/>
          </a:prstGeom>
        </p:spPr>
      </p:pic>
      <p:pic>
        <p:nvPicPr>
          <p:cNvPr id="5" name="Picture 4">
            <a:extLst>
              <a:ext uri="{FF2B5EF4-FFF2-40B4-BE49-F238E27FC236}">
                <a16:creationId xmlns:a16="http://schemas.microsoft.com/office/drawing/2014/main" id="{E0BA5452-8CF5-FB79-702D-58F94DA6EF51}"/>
              </a:ext>
            </a:extLst>
          </p:cNvPr>
          <p:cNvPicPr>
            <a:picLocks noChangeAspect="1"/>
          </p:cNvPicPr>
          <p:nvPr/>
        </p:nvPicPr>
        <p:blipFill>
          <a:blip r:embed="rId4"/>
          <a:stretch>
            <a:fillRect/>
          </a:stretch>
        </p:blipFill>
        <p:spPr>
          <a:xfrm>
            <a:off x="6938683" y="3118669"/>
            <a:ext cx="3523129" cy="1453781"/>
          </a:xfrm>
          <a:prstGeom prst="rect">
            <a:avLst/>
          </a:prstGeom>
        </p:spPr>
      </p:pic>
      <p:pic>
        <p:nvPicPr>
          <p:cNvPr id="6" name="Picture 5">
            <a:extLst>
              <a:ext uri="{FF2B5EF4-FFF2-40B4-BE49-F238E27FC236}">
                <a16:creationId xmlns:a16="http://schemas.microsoft.com/office/drawing/2014/main" id="{46AC7094-EB26-75F1-DEB5-92B5CE3CF66D}"/>
              </a:ext>
            </a:extLst>
          </p:cNvPr>
          <p:cNvPicPr>
            <a:picLocks noChangeAspect="1"/>
          </p:cNvPicPr>
          <p:nvPr/>
        </p:nvPicPr>
        <p:blipFill>
          <a:blip r:embed="rId5"/>
          <a:stretch>
            <a:fillRect/>
          </a:stretch>
        </p:blipFill>
        <p:spPr>
          <a:xfrm>
            <a:off x="6867119" y="5149908"/>
            <a:ext cx="4717523" cy="835925"/>
          </a:xfrm>
          <a:prstGeom prst="rect">
            <a:avLst/>
          </a:prstGeom>
        </p:spPr>
      </p:pic>
      <p:sp>
        <p:nvSpPr>
          <p:cNvPr id="7" name="Slide Number Placeholder 6">
            <a:extLst>
              <a:ext uri="{FF2B5EF4-FFF2-40B4-BE49-F238E27FC236}">
                <a16:creationId xmlns:a16="http://schemas.microsoft.com/office/drawing/2014/main" id="{18E07C2E-DDB8-4053-3E4A-277264D9C512}"/>
              </a:ext>
            </a:extLst>
          </p:cNvPr>
          <p:cNvSpPr>
            <a:spLocks noGrp="1"/>
          </p:cNvSpPr>
          <p:nvPr>
            <p:ph type="sldNum" sz="quarter" idx="12"/>
          </p:nvPr>
        </p:nvSpPr>
        <p:spPr>
          <a:xfrm>
            <a:off x="9296400" y="6380728"/>
            <a:ext cx="2743200" cy="365125"/>
          </a:xfrm>
        </p:spPr>
        <p:txBody>
          <a:bodyPr/>
          <a:lstStyle/>
          <a:p>
            <a:r>
              <a:rPr lang="en-US" dirty="0"/>
              <a:t>3</a:t>
            </a:r>
          </a:p>
        </p:txBody>
      </p:sp>
    </p:spTree>
    <p:extLst>
      <p:ext uri="{BB962C8B-B14F-4D97-AF65-F5344CB8AC3E}">
        <p14:creationId xmlns:p14="http://schemas.microsoft.com/office/powerpoint/2010/main" val="4135829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FF6BC-9E41-5443-E6C5-FE9A33C93B23}"/>
              </a:ext>
            </a:extLst>
          </p:cNvPr>
          <p:cNvSpPr>
            <a:spLocks noGrp="1"/>
          </p:cNvSpPr>
          <p:nvPr>
            <p:ph type="title"/>
          </p:nvPr>
        </p:nvSpPr>
        <p:spPr>
          <a:xfrm>
            <a:off x="838200" y="365125"/>
            <a:ext cx="5320553" cy="6311340"/>
          </a:xfrm>
        </p:spPr>
        <p:txBody>
          <a:bodyPr anchor="t">
            <a:normAutofit/>
          </a:bodyPr>
          <a:lstStyle/>
          <a:p>
            <a:r>
              <a:rPr lang="pl-PL" sz="1400" b="1" dirty="0"/>
              <a:t>10.</a:t>
            </a:r>
            <a:r>
              <a:rPr lang="en-US" sz="1400" b="1" dirty="0"/>
              <a:t> Random Forest model for comparison</a:t>
            </a:r>
            <a:br>
              <a:rPr lang="pl-PL" sz="1400" dirty="0"/>
            </a:br>
            <a:r>
              <a:rPr lang="en-US" sz="1400" dirty="0"/>
              <a:t>Higher overall accuracy and AUC for Random Forest compared to Logistic Regression.</a:t>
            </a:r>
            <a:r>
              <a:rPr lang="pl-PL" sz="1400" dirty="0"/>
              <a:t> </a:t>
            </a:r>
            <a:r>
              <a:rPr lang="en-US" sz="1400" dirty="0"/>
              <a:t>But recall for diabetics might be worse or similar, depending on threshold / hyperparameters.</a:t>
            </a:r>
            <a:br>
              <a:rPr lang="en-US" sz="1400" dirty="0"/>
            </a:br>
            <a:br>
              <a:rPr lang="pl-PL" sz="1400" dirty="0"/>
            </a:br>
            <a:br>
              <a:rPr lang="en-GB" sz="1400" dirty="0"/>
            </a:br>
            <a:br>
              <a:rPr lang="en-GB" sz="1400" dirty="0"/>
            </a:br>
            <a:br>
              <a:rPr lang="en-GB" sz="1400" dirty="0"/>
            </a:br>
            <a:br>
              <a:rPr lang="en-GB" sz="1400" dirty="0"/>
            </a:br>
            <a:br>
              <a:rPr lang="en-GB" sz="1400" dirty="0"/>
            </a:br>
            <a:r>
              <a:rPr lang="pl-PL" sz="1400" b="1" dirty="0"/>
              <a:t>11. </a:t>
            </a:r>
            <a:r>
              <a:rPr lang="pl-PL" sz="1400" b="1" dirty="0" err="1"/>
              <a:t>Hyperparameter</a:t>
            </a:r>
            <a:r>
              <a:rPr lang="pl-PL" sz="1400" b="1" dirty="0"/>
              <a:t> </a:t>
            </a:r>
            <a:r>
              <a:rPr lang="pl-PL" sz="1400" b="1" dirty="0" err="1"/>
              <a:t>Tuning</a:t>
            </a:r>
            <a:r>
              <a:rPr lang="pl-PL" sz="1400" b="1" dirty="0"/>
              <a:t> with </a:t>
            </a:r>
            <a:r>
              <a:rPr lang="pl-PL" sz="1400" b="1" dirty="0" err="1"/>
              <a:t>GridSearchCV</a:t>
            </a:r>
            <a:br>
              <a:rPr lang="pl-PL" sz="1400" dirty="0"/>
            </a:br>
            <a:r>
              <a:rPr lang="en-GB" sz="1400" dirty="0"/>
              <a:t>- </a:t>
            </a:r>
            <a:r>
              <a:rPr lang="en-GB" sz="1400" dirty="0" err="1"/>
              <a:t>i</a:t>
            </a:r>
            <a:r>
              <a:rPr lang="pl-PL" sz="1400" dirty="0" err="1"/>
              <a:t>mprove</a:t>
            </a:r>
            <a:r>
              <a:rPr lang="pl-PL" sz="1400" dirty="0"/>
              <a:t> model performance</a:t>
            </a:r>
            <a:r>
              <a:rPr lang="en-GB" sz="1400" dirty="0"/>
              <a:t>;</a:t>
            </a:r>
            <a:br>
              <a:rPr lang="pl-PL" sz="1400" dirty="0"/>
            </a:br>
            <a:r>
              <a:rPr lang="en-GB" sz="1400" dirty="0"/>
              <a:t>- h</a:t>
            </a:r>
            <a:r>
              <a:rPr lang="pl-PL" sz="1400" dirty="0" err="1"/>
              <a:t>andle</a:t>
            </a:r>
            <a:r>
              <a:rPr lang="pl-PL" sz="1400" dirty="0"/>
              <a:t> </a:t>
            </a:r>
            <a:r>
              <a:rPr lang="pl-PL" sz="1400" dirty="0" err="1"/>
              <a:t>class</a:t>
            </a:r>
            <a:r>
              <a:rPr lang="pl-PL" sz="1400" dirty="0"/>
              <a:t> </a:t>
            </a:r>
            <a:r>
              <a:rPr lang="pl-PL" sz="1400" dirty="0" err="1"/>
              <a:t>imbalance</a:t>
            </a:r>
            <a:r>
              <a:rPr lang="pl-PL" sz="1400" dirty="0"/>
              <a:t> </a:t>
            </a:r>
            <a:r>
              <a:rPr lang="pl-PL" sz="1400" dirty="0" err="1"/>
              <a:t>more</a:t>
            </a:r>
            <a:r>
              <a:rPr lang="pl-PL" sz="1400" dirty="0"/>
              <a:t> </a:t>
            </a:r>
            <a:r>
              <a:rPr lang="pl-PL" sz="1400" dirty="0" err="1"/>
              <a:t>effectively</a:t>
            </a:r>
            <a:r>
              <a:rPr lang="en-GB" sz="1400" dirty="0"/>
              <a:t>;</a:t>
            </a:r>
            <a:br>
              <a:rPr lang="pl-PL" sz="1400" dirty="0"/>
            </a:br>
            <a:r>
              <a:rPr lang="en-GB" sz="1400" dirty="0"/>
              <a:t>- r</a:t>
            </a:r>
            <a:r>
              <a:rPr lang="pl-PL" sz="1400" dirty="0" err="1"/>
              <a:t>educe</a:t>
            </a:r>
            <a:r>
              <a:rPr lang="pl-PL" sz="1400" dirty="0"/>
              <a:t> </a:t>
            </a:r>
            <a:r>
              <a:rPr lang="pl-PL" sz="1400" dirty="0" err="1"/>
              <a:t>overfitting</a:t>
            </a:r>
            <a:r>
              <a:rPr lang="pl-PL" sz="1400" dirty="0"/>
              <a:t> </a:t>
            </a:r>
            <a:r>
              <a:rPr lang="pl-PL" sz="1400" dirty="0" err="1"/>
              <a:t>or</a:t>
            </a:r>
            <a:r>
              <a:rPr lang="pl-PL" sz="1400" dirty="0"/>
              <a:t> </a:t>
            </a:r>
            <a:r>
              <a:rPr lang="pl-PL" sz="1400" dirty="0" err="1"/>
              <a:t>underfitting</a:t>
            </a:r>
            <a:br>
              <a:rPr lang="pl-PL" sz="1400" dirty="0"/>
            </a:br>
            <a:br>
              <a:rPr lang="pl-PL" sz="1400" dirty="0"/>
            </a:br>
            <a:r>
              <a:rPr lang="pl-PL" sz="1400" dirty="0"/>
              <a:t>To </a:t>
            </a:r>
            <a:r>
              <a:rPr lang="pl-PL" sz="1400" dirty="0" err="1"/>
              <a:t>tune</a:t>
            </a:r>
            <a:r>
              <a:rPr lang="pl-PL" sz="1400" dirty="0"/>
              <a:t>:</a:t>
            </a:r>
            <a:br>
              <a:rPr lang="pl-PL" sz="1400" dirty="0"/>
            </a:br>
            <a:r>
              <a:rPr lang="en-GB" sz="1400" dirty="0"/>
              <a:t>- </a:t>
            </a:r>
            <a:r>
              <a:rPr lang="pl-PL" sz="1400" dirty="0"/>
              <a:t>C (</a:t>
            </a:r>
            <a:r>
              <a:rPr lang="pl-PL" sz="1400" dirty="0" err="1"/>
              <a:t>regularization</a:t>
            </a:r>
            <a:r>
              <a:rPr lang="pl-PL" sz="1400" dirty="0"/>
              <a:t> </a:t>
            </a:r>
            <a:r>
              <a:rPr lang="pl-PL" sz="1400" dirty="0" err="1"/>
              <a:t>strength</a:t>
            </a:r>
            <a:r>
              <a:rPr lang="pl-PL" sz="1400" dirty="0"/>
              <a:t>)</a:t>
            </a:r>
            <a:r>
              <a:rPr lang="en-GB" sz="1400" dirty="0"/>
              <a:t>;</a:t>
            </a:r>
            <a:br>
              <a:rPr lang="pl-PL" sz="1400" dirty="0"/>
            </a:br>
            <a:r>
              <a:rPr lang="en-GB" sz="1400" dirty="0"/>
              <a:t>- </a:t>
            </a:r>
            <a:r>
              <a:rPr lang="pl-PL" sz="1400" dirty="0" err="1"/>
              <a:t>penalty</a:t>
            </a:r>
            <a:r>
              <a:rPr lang="pl-PL" sz="1400" dirty="0"/>
              <a:t> (</a:t>
            </a:r>
            <a:r>
              <a:rPr lang="pl-PL" sz="1400" dirty="0" err="1"/>
              <a:t>strength</a:t>
            </a:r>
            <a:r>
              <a:rPr lang="pl-PL" sz="1400" dirty="0"/>
              <a:t> </a:t>
            </a:r>
            <a:r>
              <a:rPr lang="pl-PL" sz="1400" dirty="0" err="1"/>
              <a:t>type</a:t>
            </a:r>
            <a:r>
              <a:rPr lang="pl-PL" sz="1400" dirty="0"/>
              <a:t>)</a:t>
            </a:r>
            <a:r>
              <a:rPr lang="en-GB" sz="1400" dirty="0"/>
              <a:t>;</a:t>
            </a:r>
            <a:br>
              <a:rPr lang="pl-PL" sz="1400" dirty="0"/>
            </a:br>
            <a:r>
              <a:rPr lang="en-GB" sz="1400" dirty="0"/>
              <a:t>- </a:t>
            </a:r>
            <a:r>
              <a:rPr lang="pl-PL" sz="1400" dirty="0" err="1"/>
              <a:t>class_weight</a:t>
            </a:r>
            <a:r>
              <a:rPr lang="en-GB" sz="1400" dirty="0"/>
              <a:t>;</a:t>
            </a:r>
            <a:br>
              <a:rPr lang="pl-PL" sz="1400" dirty="0"/>
            </a:br>
            <a:r>
              <a:rPr lang="en-GB" sz="1400" dirty="0"/>
              <a:t>- </a:t>
            </a:r>
            <a:r>
              <a:rPr lang="pl-PL" sz="1400" dirty="0" err="1"/>
              <a:t>solver</a:t>
            </a:r>
            <a:r>
              <a:rPr lang="pl-PL" sz="1400" dirty="0"/>
              <a:t> (</a:t>
            </a:r>
            <a:r>
              <a:rPr lang="pl-PL" sz="1400" dirty="0" err="1"/>
              <a:t>algorithm</a:t>
            </a:r>
            <a:r>
              <a:rPr lang="pl-PL" sz="1400" dirty="0"/>
              <a:t> to </a:t>
            </a:r>
            <a:r>
              <a:rPr lang="pl-PL" sz="1400" dirty="0" err="1"/>
              <a:t>optimize</a:t>
            </a:r>
            <a:r>
              <a:rPr lang="pl-PL" sz="1400" dirty="0"/>
              <a:t> LR)</a:t>
            </a:r>
            <a:br>
              <a:rPr lang="pl-PL" sz="1400" dirty="0"/>
            </a:br>
            <a:br>
              <a:rPr lang="pl-PL" sz="1400" dirty="0"/>
            </a:br>
            <a:r>
              <a:rPr lang="en-US" sz="1400" dirty="0"/>
              <a:t>Using </a:t>
            </a:r>
            <a:r>
              <a:rPr lang="en-US" sz="1400" dirty="0" err="1"/>
              <a:t>GridSearchCV</a:t>
            </a:r>
            <a:r>
              <a:rPr lang="en-US" sz="1400" dirty="0"/>
              <a:t> with 5-fold cross-validation, the best model achieved a cross-validated ROC AUC of approximately 0.88. The tuned model improved the classification of diabetic patients by adjusting the regularization strength (C) and class weighting. Compared to the baseline logistic regression, the tuned version shows slightly better discrimination capability on the test dataset, as indicated by a higher ROC AUC and improved sensitivity to diabetic cases. ROC AUC improved slightly ⇒ better ranking ability. Recall changes show improved detection of diabetics. The tuned classifier generalizes well (similar CV vs test scores)</a:t>
            </a:r>
          </a:p>
        </p:txBody>
      </p:sp>
      <p:pic>
        <p:nvPicPr>
          <p:cNvPr id="3" name="Picture 2">
            <a:extLst>
              <a:ext uri="{FF2B5EF4-FFF2-40B4-BE49-F238E27FC236}">
                <a16:creationId xmlns:a16="http://schemas.microsoft.com/office/drawing/2014/main" id="{BC7B076A-9A4F-8115-0EC9-8D32B716824E}"/>
              </a:ext>
            </a:extLst>
          </p:cNvPr>
          <p:cNvPicPr>
            <a:picLocks noChangeAspect="1"/>
          </p:cNvPicPr>
          <p:nvPr/>
        </p:nvPicPr>
        <p:blipFill>
          <a:blip r:embed="rId2"/>
          <a:stretch>
            <a:fillRect/>
          </a:stretch>
        </p:blipFill>
        <p:spPr>
          <a:xfrm>
            <a:off x="6659565" y="420311"/>
            <a:ext cx="2558393" cy="1725944"/>
          </a:xfrm>
          <a:prstGeom prst="rect">
            <a:avLst/>
          </a:prstGeom>
        </p:spPr>
      </p:pic>
      <p:pic>
        <p:nvPicPr>
          <p:cNvPr id="4" name="Picture 3">
            <a:extLst>
              <a:ext uri="{FF2B5EF4-FFF2-40B4-BE49-F238E27FC236}">
                <a16:creationId xmlns:a16="http://schemas.microsoft.com/office/drawing/2014/main" id="{D5EC3118-9E52-25EA-E402-2B48EF4E0614}"/>
              </a:ext>
            </a:extLst>
          </p:cNvPr>
          <p:cNvPicPr>
            <a:picLocks noChangeAspect="1"/>
          </p:cNvPicPr>
          <p:nvPr/>
        </p:nvPicPr>
        <p:blipFill>
          <a:blip r:embed="rId3"/>
          <a:stretch>
            <a:fillRect/>
          </a:stretch>
        </p:blipFill>
        <p:spPr>
          <a:xfrm>
            <a:off x="6659565" y="2279516"/>
            <a:ext cx="4694235" cy="1899078"/>
          </a:xfrm>
          <a:prstGeom prst="rect">
            <a:avLst/>
          </a:prstGeom>
        </p:spPr>
      </p:pic>
      <p:pic>
        <p:nvPicPr>
          <p:cNvPr id="5" name="Picture 4">
            <a:extLst>
              <a:ext uri="{FF2B5EF4-FFF2-40B4-BE49-F238E27FC236}">
                <a16:creationId xmlns:a16="http://schemas.microsoft.com/office/drawing/2014/main" id="{898F1C38-4B1C-8797-26E1-B84701EF23DD}"/>
              </a:ext>
            </a:extLst>
          </p:cNvPr>
          <p:cNvPicPr>
            <a:picLocks noChangeAspect="1"/>
          </p:cNvPicPr>
          <p:nvPr/>
        </p:nvPicPr>
        <p:blipFill>
          <a:blip r:embed="rId4"/>
          <a:stretch>
            <a:fillRect/>
          </a:stretch>
        </p:blipFill>
        <p:spPr>
          <a:xfrm>
            <a:off x="6549031" y="4311856"/>
            <a:ext cx="3374898" cy="2483415"/>
          </a:xfrm>
          <a:prstGeom prst="rect">
            <a:avLst/>
          </a:prstGeom>
        </p:spPr>
      </p:pic>
      <p:sp>
        <p:nvSpPr>
          <p:cNvPr id="6" name="Slide Number Placeholder 5">
            <a:extLst>
              <a:ext uri="{FF2B5EF4-FFF2-40B4-BE49-F238E27FC236}">
                <a16:creationId xmlns:a16="http://schemas.microsoft.com/office/drawing/2014/main" id="{678DAA41-497D-C951-177B-2EC292FF2EAE}"/>
              </a:ext>
            </a:extLst>
          </p:cNvPr>
          <p:cNvSpPr>
            <a:spLocks noGrp="1"/>
          </p:cNvSpPr>
          <p:nvPr>
            <p:ph type="sldNum" sz="quarter" idx="12"/>
          </p:nvPr>
        </p:nvSpPr>
        <p:spPr>
          <a:xfrm>
            <a:off x="9330017" y="6430146"/>
            <a:ext cx="2743200" cy="365125"/>
          </a:xfrm>
        </p:spPr>
        <p:txBody>
          <a:bodyPr/>
          <a:lstStyle/>
          <a:p>
            <a:r>
              <a:rPr lang="en-GB" dirty="0"/>
              <a:t>4</a:t>
            </a:r>
            <a:endParaRPr lang="en-US" dirty="0"/>
          </a:p>
        </p:txBody>
      </p:sp>
    </p:spTree>
    <p:extLst>
      <p:ext uri="{BB962C8B-B14F-4D97-AF65-F5344CB8AC3E}">
        <p14:creationId xmlns:p14="http://schemas.microsoft.com/office/powerpoint/2010/main" val="4148988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CF144-A449-100C-6216-F730B1C21115}"/>
              </a:ext>
            </a:extLst>
          </p:cNvPr>
          <p:cNvSpPr>
            <a:spLocks noGrp="1"/>
          </p:cNvSpPr>
          <p:nvPr>
            <p:ph type="title"/>
          </p:nvPr>
        </p:nvSpPr>
        <p:spPr>
          <a:xfrm>
            <a:off x="838200" y="365125"/>
            <a:ext cx="4937312" cy="6311340"/>
          </a:xfrm>
        </p:spPr>
        <p:txBody>
          <a:bodyPr anchor="t">
            <a:normAutofit fontScale="90000"/>
          </a:bodyPr>
          <a:lstStyle/>
          <a:p>
            <a:r>
              <a:rPr lang="pl-PL" sz="1400" b="1" dirty="0"/>
              <a:t>12.</a:t>
            </a:r>
            <a:r>
              <a:rPr lang="en-US" sz="1400" b="1" dirty="0"/>
              <a:t> Model Performance With vs. Without Feature Engineering</a:t>
            </a:r>
            <a:br>
              <a:rPr lang="pl-PL" sz="1400" dirty="0"/>
            </a:br>
            <a:r>
              <a:rPr lang="pl-PL" sz="1400" dirty="0" err="1"/>
              <a:t>Feature</a:t>
            </a:r>
            <a:r>
              <a:rPr lang="pl-PL" sz="1400" dirty="0"/>
              <a:t> Engineering (</a:t>
            </a:r>
            <a:r>
              <a:rPr lang="pl-PL" sz="1400" dirty="0" err="1"/>
              <a:t>df_fe</a:t>
            </a:r>
            <a:r>
              <a:rPr lang="pl-PL" sz="1400" dirty="0"/>
              <a:t>[["BMI", "</a:t>
            </a:r>
            <a:r>
              <a:rPr lang="pl-PL" sz="1400" dirty="0" err="1"/>
              <a:t>waist_height_ratio</a:t>
            </a:r>
            <a:r>
              <a:rPr lang="pl-PL" sz="1400" dirty="0"/>
              <a:t>", "</a:t>
            </a:r>
            <a:r>
              <a:rPr lang="pl-PL" sz="1400" dirty="0" err="1"/>
              <a:t>age_group</a:t>
            </a:r>
            <a:r>
              <a:rPr lang="pl-PL" sz="1400" dirty="0"/>
              <a:t>", "</a:t>
            </a:r>
            <a:r>
              <a:rPr lang="pl-PL" sz="1400" dirty="0" err="1"/>
              <a:t>bp_category</a:t>
            </a:r>
            <a:r>
              <a:rPr lang="pl-PL" sz="1400" dirty="0"/>
              <a:t>", "</a:t>
            </a:r>
            <a:r>
              <a:rPr lang="pl-PL" sz="1400" dirty="0" err="1"/>
              <a:t>chol_ratio</a:t>
            </a:r>
            <a:r>
              <a:rPr lang="pl-PL" sz="1400" dirty="0"/>
              <a:t>"]].</a:t>
            </a:r>
            <a:r>
              <a:rPr lang="pl-PL" sz="1400" dirty="0" err="1"/>
              <a:t>head</a:t>
            </a:r>
            <a:r>
              <a:rPr lang="pl-PL" sz="1400" dirty="0"/>
              <a:t>())</a:t>
            </a:r>
            <a:r>
              <a:rPr lang="en-GB" sz="1400" dirty="0"/>
              <a:t>.</a:t>
            </a:r>
            <a:br>
              <a:rPr lang="pl-PL" sz="1400" dirty="0"/>
            </a:br>
            <a:r>
              <a:rPr lang="pl-PL" sz="1400" dirty="0" err="1"/>
              <a:t>Helps</a:t>
            </a:r>
            <a:r>
              <a:rPr lang="pl-PL" sz="1400" dirty="0"/>
              <a:t> </a:t>
            </a:r>
            <a:r>
              <a:rPr lang="pl-PL" sz="1400" dirty="0" err="1"/>
              <a:t>demonstrate</a:t>
            </a:r>
            <a:r>
              <a:rPr lang="pl-PL" sz="1400" dirty="0"/>
              <a:t> </a:t>
            </a:r>
            <a:r>
              <a:rPr lang="pl-PL" sz="1400" dirty="0" err="1"/>
              <a:t>overweight</a:t>
            </a:r>
            <a:r>
              <a:rPr lang="pl-PL" sz="1400" dirty="0"/>
              <a:t>/</a:t>
            </a:r>
            <a:r>
              <a:rPr lang="pl-PL" sz="1400" dirty="0" err="1"/>
              <a:t>obesity</a:t>
            </a:r>
            <a:r>
              <a:rPr lang="pl-PL" sz="1400" dirty="0"/>
              <a:t> </a:t>
            </a:r>
            <a:r>
              <a:rPr lang="pl-PL" sz="1400" dirty="0" err="1"/>
              <a:t>trends</a:t>
            </a:r>
            <a:r>
              <a:rPr lang="pl-PL" sz="1400" dirty="0"/>
              <a:t> in </a:t>
            </a:r>
            <a:r>
              <a:rPr lang="pl-PL" sz="1400" dirty="0" err="1"/>
              <a:t>diabetics</a:t>
            </a:r>
            <a:r>
              <a:rPr lang="pl-PL" sz="1400" dirty="0"/>
              <a:t> vs non-</a:t>
            </a:r>
            <a:r>
              <a:rPr lang="pl-PL" sz="1400" dirty="0" err="1"/>
              <a:t>diabetics</a:t>
            </a:r>
            <a:r>
              <a:rPr lang="pl-PL" sz="1400" dirty="0"/>
              <a:t>.</a:t>
            </a:r>
            <a:br>
              <a:rPr lang="pl-PL" sz="1400" dirty="0"/>
            </a:br>
            <a:r>
              <a:rPr lang="pl-PL" sz="1400" dirty="0" err="1"/>
              <a:t>Higher</a:t>
            </a:r>
            <a:r>
              <a:rPr lang="pl-PL" sz="1400" dirty="0"/>
              <a:t> BMI </a:t>
            </a:r>
            <a:r>
              <a:rPr lang="pl-PL" sz="1400" dirty="0" err="1"/>
              <a:t>clusters</a:t>
            </a:r>
            <a:r>
              <a:rPr lang="pl-PL" sz="1400" dirty="0"/>
              <a:t> </a:t>
            </a:r>
            <a:r>
              <a:rPr lang="pl-PL" sz="1400" dirty="0" err="1"/>
              <a:t>are</a:t>
            </a:r>
            <a:r>
              <a:rPr lang="pl-PL" sz="1400" dirty="0"/>
              <a:t> </a:t>
            </a:r>
            <a:r>
              <a:rPr lang="pl-PL" sz="1400" dirty="0" err="1"/>
              <a:t>expected</a:t>
            </a:r>
            <a:r>
              <a:rPr lang="pl-PL" sz="1400" dirty="0"/>
              <a:t> </a:t>
            </a:r>
            <a:r>
              <a:rPr lang="pl-PL" sz="1400" dirty="0" err="1"/>
              <a:t>among</a:t>
            </a:r>
            <a:r>
              <a:rPr lang="pl-PL" sz="1400" dirty="0"/>
              <a:t> </a:t>
            </a:r>
            <a:r>
              <a:rPr lang="pl-PL" sz="1400" dirty="0" err="1"/>
              <a:t>diabetic</a:t>
            </a:r>
            <a:r>
              <a:rPr lang="pl-PL" sz="1400" dirty="0"/>
              <a:t> </a:t>
            </a:r>
            <a:r>
              <a:rPr lang="pl-PL" sz="1400" dirty="0" err="1"/>
              <a:t>patients</a:t>
            </a:r>
            <a:r>
              <a:rPr lang="pl-PL" sz="1400" dirty="0"/>
              <a:t>.</a:t>
            </a:r>
            <a:br>
              <a:rPr lang="pl-PL" sz="1400" dirty="0"/>
            </a:br>
            <a:r>
              <a:rPr lang="en-GB" sz="1400" dirty="0"/>
              <a:t>- </a:t>
            </a:r>
            <a:r>
              <a:rPr lang="pl-PL" sz="1400" dirty="0"/>
              <a:t>BMI, </a:t>
            </a:r>
            <a:r>
              <a:rPr lang="pl-PL" sz="1400" dirty="0" err="1"/>
              <a:t>Waist</a:t>
            </a:r>
            <a:r>
              <a:rPr lang="pl-PL" sz="1400" dirty="0"/>
              <a:t>/</a:t>
            </a:r>
            <a:r>
              <a:rPr lang="pl-PL" sz="1400" dirty="0" err="1"/>
              <a:t>Height</a:t>
            </a:r>
            <a:r>
              <a:rPr lang="pl-PL" sz="1400" dirty="0"/>
              <a:t>, </a:t>
            </a:r>
            <a:r>
              <a:rPr lang="pl-PL" sz="1400" dirty="0" err="1"/>
              <a:t>Chol</a:t>
            </a:r>
            <a:r>
              <a:rPr lang="pl-PL" sz="1400" dirty="0"/>
              <a:t> Ratio </a:t>
            </a:r>
            <a:r>
              <a:rPr lang="pl-PL" sz="1400" dirty="0" err="1"/>
              <a:t>enter</a:t>
            </a:r>
            <a:r>
              <a:rPr lang="pl-PL" sz="1400" dirty="0"/>
              <a:t> the model</a:t>
            </a:r>
            <a:br>
              <a:rPr lang="pl-PL" sz="1400" dirty="0"/>
            </a:br>
            <a:r>
              <a:rPr lang="en-GB" sz="1400" dirty="0"/>
              <a:t>- </a:t>
            </a:r>
            <a:r>
              <a:rPr lang="pl-PL" sz="1400" dirty="0"/>
              <a:t>BP </a:t>
            </a:r>
            <a:r>
              <a:rPr lang="pl-PL" sz="1400" dirty="0" err="1"/>
              <a:t>Category</a:t>
            </a:r>
            <a:r>
              <a:rPr lang="pl-PL" sz="1400" dirty="0"/>
              <a:t> and Age Group </a:t>
            </a:r>
            <a:r>
              <a:rPr lang="pl-PL" sz="1400" dirty="0" err="1"/>
              <a:t>are</a:t>
            </a:r>
            <a:r>
              <a:rPr lang="pl-PL" sz="1400" dirty="0"/>
              <a:t> </a:t>
            </a:r>
            <a:r>
              <a:rPr lang="pl-PL" sz="1400" dirty="0" err="1"/>
              <a:t>handled</a:t>
            </a:r>
            <a:r>
              <a:rPr lang="pl-PL" sz="1400" dirty="0"/>
              <a:t> via </a:t>
            </a:r>
            <a:r>
              <a:rPr lang="pl-PL" sz="1400" dirty="0" err="1"/>
              <a:t>OneHotEncoding</a:t>
            </a:r>
            <a:br>
              <a:rPr lang="pl-PL" sz="1400" dirty="0"/>
            </a:br>
            <a:r>
              <a:rPr lang="en-GB" sz="1400" dirty="0"/>
              <a:t>- </a:t>
            </a:r>
            <a:r>
              <a:rPr lang="pl-PL" sz="1400" dirty="0" err="1"/>
              <a:t>Makes</a:t>
            </a:r>
            <a:r>
              <a:rPr lang="pl-PL" sz="1400" dirty="0"/>
              <a:t> </a:t>
            </a:r>
            <a:r>
              <a:rPr lang="pl-PL" sz="1400" dirty="0" err="1"/>
              <a:t>logistic</a:t>
            </a:r>
            <a:r>
              <a:rPr lang="pl-PL" sz="1400" dirty="0"/>
              <a:t> </a:t>
            </a:r>
            <a:r>
              <a:rPr lang="pl-PL" sz="1400" dirty="0" err="1"/>
              <a:t>coefficients</a:t>
            </a:r>
            <a:r>
              <a:rPr lang="pl-PL" sz="1400" dirty="0"/>
              <a:t> </a:t>
            </a:r>
            <a:r>
              <a:rPr lang="pl-PL" sz="1400" dirty="0" err="1"/>
              <a:t>more</a:t>
            </a:r>
            <a:r>
              <a:rPr lang="pl-PL" sz="1400" dirty="0"/>
              <a:t> </a:t>
            </a:r>
            <a:r>
              <a:rPr lang="pl-PL" sz="1400" dirty="0" err="1"/>
              <a:t>clinically</a:t>
            </a:r>
            <a:r>
              <a:rPr lang="pl-PL" sz="1400" dirty="0"/>
              <a:t> </a:t>
            </a:r>
            <a:r>
              <a:rPr lang="pl-PL" sz="1400" dirty="0" err="1"/>
              <a:t>meaningful</a:t>
            </a:r>
            <a:br>
              <a:rPr lang="pl-PL" sz="1400" dirty="0"/>
            </a:br>
            <a:r>
              <a:rPr lang="pl-PL" sz="1400" dirty="0"/>
              <a:t>- </a:t>
            </a:r>
            <a:r>
              <a:rPr lang="pl-PL" sz="1400" dirty="0" err="1"/>
              <a:t>These</a:t>
            </a:r>
            <a:r>
              <a:rPr lang="pl-PL" sz="1400" dirty="0"/>
              <a:t> </a:t>
            </a:r>
            <a:r>
              <a:rPr lang="pl-PL" sz="1400" dirty="0" err="1"/>
              <a:t>engineered</a:t>
            </a:r>
            <a:r>
              <a:rPr lang="pl-PL" sz="1400" dirty="0"/>
              <a:t> </a:t>
            </a:r>
            <a:r>
              <a:rPr lang="pl-PL" sz="1400" dirty="0" err="1"/>
              <a:t>features</a:t>
            </a:r>
            <a:r>
              <a:rPr lang="pl-PL" sz="1400" dirty="0"/>
              <a:t> </a:t>
            </a:r>
            <a:r>
              <a:rPr lang="pl-PL" sz="1400" dirty="0" err="1"/>
              <a:t>improved</a:t>
            </a:r>
            <a:r>
              <a:rPr lang="pl-PL" sz="1400" dirty="0"/>
              <a:t> model performance and </a:t>
            </a:r>
            <a:r>
              <a:rPr lang="pl-PL" sz="1400" dirty="0" err="1"/>
              <a:t>produced</a:t>
            </a:r>
            <a:r>
              <a:rPr lang="pl-PL" sz="1400" dirty="0"/>
              <a:t> </a:t>
            </a:r>
            <a:r>
              <a:rPr lang="pl-PL" sz="1400" dirty="0" err="1"/>
              <a:t>more</a:t>
            </a:r>
            <a:r>
              <a:rPr lang="pl-PL" sz="1400" dirty="0"/>
              <a:t> </a:t>
            </a:r>
            <a:r>
              <a:rPr lang="pl-PL" sz="1400" dirty="0" err="1"/>
              <a:t>interpretable</a:t>
            </a:r>
            <a:r>
              <a:rPr lang="pl-PL" sz="1400" dirty="0"/>
              <a:t> </a:t>
            </a:r>
            <a:r>
              <a:rPr lang="pl-PL" sz="1400" dirty="0" err="1"/>
              <a:t>coefficients</a:t>
            </a:r>
            <a:r>
              <a:rPr lang="pl-PL" sz="1400" dirty="0"/>
              <a:t> </a:t>
            </a:r>
            <a:r>
              <a:rPr lang="pl-PL" sz="1400" dirty="0" err="1"/>
              <a:t>aligned</a:t>
            </a:r>
            <a:r>
              <a:rPr lang="pl-PL" sz="1400" dirty="0"/>
              <a:t> with real </a:t>
            </a:r>
            <a:r>
              <a:rPr lang="pl-PL" sz="1400" dirty="0" err="1"/>
              <a:t>medical</a:t>
            </a:r>
            <a:r>
              <a:rPr lang="pl-PL" sz="1400" dirty="0"/>
              <a:t> </a:t>
            </a:r>
            <a:r>
              <a:rPr lang="pl-PL" sz="1400" dirty="0" err="1"/>
              <a:t>risk</a:t>
            </a:r>
            <a:r>
              <a:rPr lang="pl-PL" sz="1400" dirty="0"/>
              <a:t> </a:t>
            </a:r>
            <a:r>
              <a:rPr lang="pl-PL" sz="1400" dirty="0" err="1"/>
              <a:t>factors</a:t>
            </a:r>
            <a:r>
              <a:rPr lang="pl-PL" sz="1400" dirty="0"/>
              <a:t> for </a:t>
            </a:r>
            <a:r>
              <a:rPr lang="pl-PL" sz="1400" dirty="0" err="1"/>
              <a:t>diabetes</a:t>
            </a:r>
            <a:r>
              <a:rPr lang="pl-PL" sz="1400" dirty="0"/>
              <a:t>.</a:t>
            </a:r>
            <a:br>
              <a:rPr lang="pl-PL" sz="1400" dirty="0"/>
            </a:br>
            <a:br>
              <a:rPr lang="en-GB" sz="1400" dirty="0"/>
            </a:br>
            <a:r>
              <a:rPr lang="en-US" sz="1400" dirty="0"/>
              <a:t>Split data again (after feature engineering). Train/Test split again using updated dataset </a:t>
            </a:r>
            <a:r>
              <a:rPr lang="en-US" sz="1400" dirty="0" err="1"/>
              <a:t>df_fe</a:t>
            </a:r>
            <a:r>
              <a:rPr lang="pl-PL" sz="1400" dirty="0"/>
              <a:t>.</a:t>
            </a:r>
            <a:br>
              <a:rPr lang="pl-PL" sz="1400" dirty="0"/>
            </a:br>
            <a:r>
              <a:rPr lang="en-US" sz="1400" dirty="0"/>
              <a:t>ROC AUC increases &amp; Recall for diabetic class improves.</a:t>
            </a:r>
            <a:br>
              <a:rPr lang="en-US" sz="1400" dirty="0"/>
            </a:br>
            <a:br>
              <a:rPr lang="en-US" sz="1400" dirty="0"/>
            </a:br>
            <a:r>
              <a:rPr lang="en-US" sz="1400" dirty="0"/>
              <a:t>Feature Engineering increased model performance from an ROC AUC of ~0.88 to ~0.90. The improvements were most notable in recall for diabetic patients, demonstrating that the engineered medical risk indicators provided additional predictive power.</a:t>
            </a:r>
            <a:br>
              <a:rPr lang="pl-PL" sz="1400" dirty="0"/>
            </a:br>
            <a:br>
              <a:rPr lang="en-GB" sz="1400" dirty="0"/>
            </a:br>
            <a:r>
              <a:rPr lang="en-US" sz="1400" dirty="0"/>
              <a:t>The engineered clinical indicators such as BMI and cholesterol ratio had large positive coefficients, meaning higher values increase the likelihood of diabetes. On the other hand, higher HDL (good cholesterol) and normal blood pressure categories were associated with reduced diabetes probability. This aligns with established medical risk factors, improving both model interpretability and accuracy.</a:t>
            </a:r>
            <a:br>
              <a:rPr lang="en-US" sz="1400" dirty="0"/>
            </a:br>
            <a:br>
              <a:rPr lang="en-US" sz="1400" dirty="0"/>
            </a:br>
            <a:r>
              <a:rPr lang="en-US" sz="1400" dirty="0"/>
              <a:t>Improvement	Results:</a:t>
            </a:r>
            <a:br>
              <a:rPr lang="en-US" sz="1400" dirty="0"/>
            </a:br>
            <a:r>
              <a:rPr lang="en-US" sz="1400" dirty="0"/>
              <a:t>- logistic Regression ROC AUC -  Increased;</a:t>
            </a:r>
            <a:br>
              <a:rPr lang="en-US" sz="1400" dirty="0"/>
            </a:br>
            <a:r>
              <a:rPr lang="en-US" sz="1400" dirty="0"/>
              <a:t>- recall for diabetic class -  Improved;</a:t>
            </a:r>
            <a:br>
              <a:rPr lang="en-US" sz="1400" dirty="0"/>
            </a:br>
            <a:r>
              <a:rPr lang="en-US" sz="1400" dirty="0"/>
              <a:t>- clinical interpretability  - Much stronger</a:t>
            </a:r>
            <a:br>
              <a:rPr lang="en-US" sz="1400" dirty="0"/>
            </a:br>
            <a:endParaRPr lang="en-US" sz="1400" dirty="0"/>
          </a:p>
        </p:txBody>
      </p:sp>
      <p:pic>
        <p:nvPicPr>
          <p:cNvPr id="3" name="Picture 2">
            <a:extLst>
              <a:ext uri="{FF2B5EF4-FFF2-40B4-BE49-F238E27FC236}">
                <a16:creationId xmlns:a16="http://schemas.microsoft.com/office/drawing/2014/main" id="{BB6CC7FC-0462-5796-106B-47CE41B807C3}"/>
              </a:ext>
            </a:extLst>
          </p:cNvPr>
          <p:cNvPicPr>
            <a:picLocks noChangeAspect="1"/>
          </p:cNvPicPr>
          <p:nvPr/>
        </p:nvPicPr>
        <p:blipFill>
          <a:blip r:embed="rId2"/>
          <a:stretch>
            <a:fillRect/>
          </a:stretch>
        </p:blipFill>
        <p:spPr>
          <a:xfrm>
            <a:off x="7011084" y="192142"/>
            <a:ext cx="3630883" cy="2401334"/>
          </a:xfrm>
          <a:prstGeom prst="rect">
            <a:avLst/>
          </a:prstGeom>
        </p:spPr>
      </p:pic>
      <p:pic>
        <p:nvPicPr>
          <p:cNvPr id="4" name="Picture 3">
            <a:extLst>
              <a:ext uri="{FF2B5EF4-FFF2-40B4-BE49-F238E27FC236}">
                <a16:creationId xmlns:a16="http://schemas.microsoft.com/office/drawing/2014/main" id="{7EDBEC82-06DB-3667-A12F-17B774613786}"/>
              </a:ext>
            </a:extLst>
          </p:cNvPr>
          <p:cNvPicPr>
            <a:picLocks noChangeAspect="1"/>
          </p:cNvPicPr>
          <p:nvPr/>
        </p:nvPicPr>
        <p:blipFill>
          <a:blip r:embed="rId3"/>
          <a:stretch>
            <a:fillRect/>
          </a:stretch>
        </p:blipFill>
        <p:spPr>
          <a:xfrm>
            <a:off x="7011084" y="2754171"/>
            <a:ext cx="3154892" cy="3395782"/>
          </a:xfrm>
          <a:prstGeom prst="rect">
            <a:avLst/>
          </a:prstGeom>
        </p:spPr>
      </p:pic>
      <p:sp>
        <p:nvSpPr>
          <p:cNvPr id="5" name="Slide Number Placeholder 4">
            <a:extLst>
              <a:ext uri="{FF2B5EF4-FFF2-40B4-BE49-F238E27FC236}">
                <a16:creationId xmlns:a16="http://schemas.microsoft.com/office/drawing/2014/main" id="{810F3EB2-5129-2785-93AE-F68684B6893A}"/>
              </a:ext>
            </a:extLst>
          </p:cNvPr>
          <p:cNvSpPr>
            <a:spLocks noGrp="1"/>
          </p:cNvSpPr>
          <p:nvPr>
            <p:ph type="sldNum" sz="quarter" idx="12"/>
          </p:nvPr>
        </p:nvSpPr>
        <p:spPr>
          <a:xfrm>
            <a:off x="9270367" y="6378575"/>
            <a:ext cx="2743200" cy="365125"/>
          </a:xfrm>
        </p:spPr>
        <p:txBody>
          <a:bodyPr/>
          <a:lstStyle/>
          <a:p>
            <a:r>
              <a:rPr lang="en-GB" dirty="0"/>
              <a:t>5</a:t>
            </a:r>
            <a:endParaRPr lang="en-US" dirty="0"/>
          </a:p>
        </p:txBody>
      </p:sp>
    </p:spTree>
    <p:extLst>
      <p:ext uri="{BB962C8B-B14F-4D97-AF65-F5344CB8AC3E}">
        <p14:creationId xmlns:p14="http://schemas.microsoft.com/office/powerpoint/2010/main" val="3537781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6F363-621F-F939-F95A-C54EFD426770}"/>
              </a:ext>
            </a:extLst>
          </p:cNvPr>
          <p:cNvSpPr>
            <a:spLocks noGrp="1"/>
          </p:cNvSpPr>
          <p:nvPr>
            <p:ph type="title"/>
          </p:nvPr>
        </p:nvSpPr>
        <p:spPr>
          <a:xfrm>
            <a:off x="838200" y="365125"/>
            <a:ext cx="10515600" cy="6270999"/>
          </a:xfrm>
        </p:spPr>
        <p:txBody>
          <a:bodyPr numCol="2" anchor="t">
            <a:normAutofit/>
          </a:bodyPr>
          <a:lstStyle/>
          <a:p>
            <a:r>
              <a:rPr lang="en-US" sz="1400" b="1" dirty="0"/>
              <a:t>Final summary</a:t>
            </a:r>
            <a:br>
              <a:rPr lang="en-US" sz="1400" dirty="0"/>
            </a:br>
            <a:br>
              <a:rPr lang="en-US" sz="1400" dirty="0"/>
            </a:br>
            <a:r>
              <a:rPr lang="en-US" sz="1400" b="1" dirty="0"/>
              <a:t>1. Data Exploration</a:t>
            </a:r>
            <a:br>
              <a:rPr lang="en-US" sz="1400" dirty="0"/>
            </a:br>
            <a:r>
              <a:rPr lang="en-US" sz="1400" dirty="0"/>
              <a:t>- Inspected variable types and examined summary statistics;</a:t>
            </a:r>
            <a:br>
              <a:rPr lang="en-US" sz="1400" dirty="0"/>
            </a:br>
            <a:r>
              <a:rPr lang="en-US" sz="1400" dirty="0"/>
              <a:t>- Identified missing values and handled them appropriately using</a:t>
            </a:r>
            <a:br>
              <a:rPr lang="en-US" sz="1400" dirty="0"/>
            </a:br>
            <a:r>
              <a:rPr lang="en-US" sz="1400" dirty="0"/>
              <a:t>median and mode imputation;</a:t>
            </a:r>
            <a:br>
              <a:rPr lang="en-US" sz="1400" dirty="0"/>
            </a:br>
            <a:r>
              <a:rPr lang="en-US" sz="1400" dirty="0"/>
              <a:t>- Created a binary target variable </a:t>
            </a:r>
            <a:r>
              <a:rPr lang="en-US" sz="1400" dirty="0" err="1"/>
              <a:t>has_diabetes</a:t>
            </a:r>
            <a:r>
              <a:rPr lang="en-US" sz="1400" dirty="0"/>
              <a:t> using the clinical</a:t>
            </a:r>
            <a:br>
              <a:rPr lang="en-US" sz="1400" dirty="0"/>
            </a:br>
            <a:r>
              <a:rPr lang="en-US" sz="1400" dirty="0"/>
              <a:t>threshold of </a:t>
            </a:r>
            <a:r>
              <a:rPr lang="en-US" sz="1400" dirty="0" err="1"/>
              <a:t>glyhb</a:t>
            </a:r>
            <a:r>
              <a:rPr lang="en-US" sz="1400" dirty="0"/>
              <a:t> ≥ 6.5%;</a:t>
            </a:r>
            <a:br>
              <a:rPr lang="en-US" sz="1400" dirty="0"/>
            </a:br>
            <a:r>
              <a:rPr lang="en-US" sz="1400" dirty="0"/>
              <a:t>- Conducted exploratory visualizations including histograms,</a:t>
            </a:r>
            <a:br>
              <a:rPr lang="en-US" sz="1400" dirty="0"/>
            </a:br>
            <a:r>
              <a:rPr lang="en-US" sz="1400" dirty="0"/>
              <a:t>boxplots, and a correlation heatmap;</a:t>
            </a:r>
            <a:br>
              <a:rPr lang="en-US" sz="1400" dirty="0"/>
            </a:br>
            <a:r>
              <a:rPr lang="en-US" sz="1400" dirty="0"/>
              <a:t>- Found that fasting glucose, HbA1c, age, and several obesity/blood pressure indicators are strongly associated with diabetes risk.</a:t>
            </a:r>
            <a:br>
              <a:rPr lang="en-US" sz="1400" dirty="0"/>
            </a:br>
            <a:br>
              <a:rPr lang="en-US" sz="1400" dirty="0"/>
            </a:br>
            <a:r>
              <a:rPr lang="en-US" sz="1400" b="1" dirty="0"/>
              <a:t>2. Feature Engineering</a:t>
            </a:r>
            <a:br>
              <a:rPr lang="en-US" sz="1400" dirty="0"/>
            </a:br>
            <a:r>
              <a:rPr lang="en-US" sz="1400" dirty="0"/>
              <a:t>Engineered clinically meaningful features:</a:t>
            </a:r>
            <a:br>
              <a:rPr lang="en-US" sz="1400" dirty="0"/>
            </a:br>
            <a:r>
              <a:rPr lang="en-US" sz="1400" dirty="0"/>
              <a:t>- BMI and Waist-to-Height Ratio (obesity measures);</a:t>
            </a:r>
            <a:br>
              <a:rPr lang="en-US" sz="1400" dirty="0"/>
            </a:br>
            <a:r>
              <a:rPr lang="en-US" sz="1400" dirty="0"/>
              <a:t>- Age Groups (capturing non-linear age effects);</a:t>
            </a:r>
            <a:br>
              <a:rPr lang="en-US" sz="1400" dirty="0"/>
            </a:br>
            <a:r>
              <a:rPr lang="en-US" sz="1400" dirty="0"/>
              <a:t>- Blood Pressure Category;</a:t>
            </a:r>
            <a:br>
              <a:rPr lang="en-US" sz="1400" dirty="0"/>
            </a:br>
            <a:r>
              <a:rPr lang="en-US" sz="1400" dirty="0"/>
              <a:t>- Cholesterol Ratio (Chol/HDL);</a:t>
            </a:r>
            <a:br>
              <a:rPr lang="en-US" sz="1400" dirty="0"/>
            </a:br>
            <a:br>
              <a:rPr lang="en-US" sz="1400" dirty="0"/>
            </a:br>
            <a:r>
              <a:rPr lang="en-US" sz="1400" dirty="0"/>
              <a:t>These features improved both predictive performance and clinical interpretability.</a:t>
            </a:r>
            <a:br>
              <a:rPr lang="en-US" sz="1400" dirty="0"/>
            </a:br>
            <a:r>
              <a:rPr lang="en-US" sz="1400" dirty="0"/>
              <a:t>Demonstrated performance improvement before vs after Feature Engineering with ROC AUC increase.</a:t>
            </a:r>
            <a:br>
              <a:rPr lang="en-US" sz="1400" dirty="0"/>
            </a:br>
            <a:br>
              <a:rPr lang="en-US" sz="1400" dirty="0"/>
            </a:br>
            <a:br>
              <a:rPr lang="en-US" sz="1400" dirty="0"/>
            </a:br>
            <a:br>
              <a:rPr lang="en-US" sz="1400" dirty="0"/>
            </a:br>
            <a:br>
              <a:rPr lang="en-US" sz="1400" dirty="0"/>
            </a:br>
            <a:br>
              <a:rPr lang="en-US" sz="1400" dirty="0"/>
            </a:br>
            <a:br>
              <a:rPr lang="en-US" sz="1400" dirty="0"/>
            </a:br>
            <a:br>
              <a:rPr lang="en-US" sz="1400" dirty="0"/>
            </a:br>
            <a:br>
              <a:rPr lang="en-US" sz="1400" dirty="0"/>
            </a:br>
            <a:br>
              <a:rPr lang="en-US" sz="1400" dirty="0"/>
            </a:br>
            <a:br>
              <a:rPr lang="en-US" sz="1400" dirty="0"/>
            </a:br>
            <a:r>
              <a:rPr lang="en-US" sz="1400" b="1" dirty="0"/>
              <a:t>3. Modelling</a:t>
            </a:r>
            <a:br>
              <a:rPr lang="en-US" sz="1400" dirty="0"/>
            </a:br>
            <a:r>
              <a:rPr lang="en-US" sz="1400" dirty="0"/>
              <a:t>Built a full preprocessing pipeline combining:</a:t>
            </a:r>
            <a:br>
              <a:rPr lang="en-US" sz="1400" dirty="0"/>
            </a:br>
            <a:r>
              <a:rPr lang="en-US" sz="1400" dirty="0"/>
              <a:t>- Missing value imputation;</a:t>
            </a:r>
            <a:br>
              <a:rPr lang="en-US" sz="1400" dirty="0"/>
            </a:br>
            <a:r>
              <a:rPr lang="en-US" sz="1400" dirty="0"/>
              <a:t>- Standard scaling for numeric features;</a:t>
            </a:r>
            <a:br>
              <a:rPr lang="en-US" sz="1400" dirty="0"/>
            </a:br>
            <a:r>
              <a:rPr lang="en-US" sz="1400" dirty="0"/>
              <a:t>- One-hot encoding for categorical features;</a:t>
            </a:r>
            <a:br>
              <a:rPr lang="en-US" sz="1400" dirty="0"/>
            </a:br>
            <a:r>
              <a:rPr lang="en-US" sz="1400" dirty="0"/>
              <a:t>- Trained Logistic Regression with class weighting to address class imbalance;</a:t>
            </a:r>
            <a:br>
              <a:rPr lang="en-US" sz="1400" dirty="0"/>
            </a:br>
            <a:r>
              <a:rPr lang="en-US" sz="1400" dirty="0"/>
              <a:t>- Used train/test split with stratification to preserve class proportions.</a:t>
            </a:r>
            <a:br>
              <a:rPr lang="en-US" sz="1400" dirty="0"/>
            </a:br>
            <a:br>
              <a:rPr lang="en-US" sz="1400" dirty="0"/>
            </a:br>
            <a:r>
              <a:rPr lang="en-US" sz="1400" b="1" dirty="0"/>
              <a:t>4. Evaluated the model</a:t>
            </a:r>
            <a:br>
              <a:rPr lang="en-US" sz="1400" dirty="0"/>
            </a:br>
            <a:r>
              <a:rPr lang="en-US" sz="1400" dirty="0"/>
              <a:t>-Confusion matrix;</a:t>
            </a:r>
            <a:br>
              <a:rPr lang="en-US" sz="1400" dirty="0"/>
            </a:br>
            <a:r>
              <a:rPr lang="en-US" sz="1400" dirty="0"/>
              <a:t>- Precision, recall, F1-score;</a:t>
            </a:r>
            <a:br>
              <a:rPr lang="en-US" sz="1400" dirty="0"/>
            </a:br>
            <a:r>
              <a:rPr lang="en-US" sz="1400" dirty="0"/>
              <a:t>- ROC curve and AUC score.</a:t>
            </a:r>
            <a:br>
              <a:rPr lang="en-US" sz="1400" dirty="0"/>
            </a:br>
            <a:br>
              <a:rPr lang="en-US" sz="1400" dirty="0"/>
            </a:br>
            <a:r>
              <a:rPr lang="en-US" sz="1400" b="1" dirty="0"/>
              <a:t>5. Performed </a:t>
            </a:r>
            <a:r>
              <a:rPr lang="en-US" sz="1400" b="1" dirty="0" err="1"/>
              <a:t>GridSearchCV</a:t>
            </a:r>
            <a:r>
              <a:rPr lang="en-US" sz="1400" b="1" dirty="0"/>
              <a:t> hyperparameter tuning</a:t>
            </a:r>
            <a:br>
              <a:rPr lang="en-US" sz="1400" dirty="0"/>
            </a:br>
            <a:r>
              <a:rPr lang="en-US" sz="1400" dirty="0"/>
              <a:t>- Improve discrimination performance;</a:t>
            </a:r>
            <a:br>
              <a:rPr lang="en-US" sz="1400" dirty="0"/>
            </a:br>
            <a:r>
              <a:rPr lang="en-US" sz="1400" dirty="0"/>
              <a:t>- Reduce overfitting.</a:t>
            </a:r>
            <a:br>
              <a:rPr lang="en-US" sz="1400" dirty="0"/>
            </a:br>
            <a:br>
              <a:rPr lang="en-US" sz="1400" dirty="0"/>
            </a:br>
            <a:br>
              <a:rPr lang="en-US" sz="1400" dirty="0"/>
            </a:br>
            <a:br>
              <a:rPr lang="en-US" sz="1400" dirty="0"/>
            </a:br>
            <a:br>
              <a:rPr lang="en-US" sz="1400"/>
            </a:br>
            <a:r>
              <a:rPr lang="en-US" sz="1400"/>
              <a:t> </a:t>
            </a:r>
            <a:r>
              <a:rPr lang="en-US" sz="1400" dirty="0"/>
              <a:t>Thank you!</a:t>
            </a:r>
          </a:p>
        </p:txBody>
      </p:sp>
      <p:sp>
        <p:nvSpPr>
          <p:cNvPr id="3" name="Slide Number Placeholder 2">
            <a:extLst>
              <a:ext uri="{FF2B5EF4-FFF2-40B4-BE49-F238E27FC236}">
                <a16:creationId xmlns:a16="http://schemas.microsoft.com/office/drawing/2014/main" id="{3225740A-9254-6065-6B48-A97BBDFCE92E}"/>
              </a:ext>
            </a:extLst>
          </p:cNvPr>
          <p:cNvSpPr>
            <a:spLocks noGrp="1"/>
          </p:cNvSpPr>
          <p:nvPr>
            <p:ph type="sldNum" sz="quarter" idx="12"/>
          </p:nvPr>
        </p:nvSpPr>
        <p:spPr>
          <a:xfrm>
            <a:off x="9235888" y="6383244"/>
            <a:ext cx="2743200" cy="365125"/>
          </a:xfrm>
        </p:spPr>
        <p:txBody>
          <a:bodyPr/>
          <a:lstStyle/>
          <a:p>
            <a:r>
              <a:rPr lang="en-GB" dirty="0"/>
              <a:t>6</a:t>
            </a:r>
            <a:endParaRPr lang="en-US" dirty="0"/>
          </a:p>
        </p:txBody>
      </p:sp>
    </p:spTree>
    <p:extLst>
      <p:ext uri="{BB962C8B-B14F-4D97-AF65-F5344CB8AC3E}">
        <p14:creationId xmlns:p14="http://schemas.microsoft.com/office/powerpoint/2010/main" val="2683334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1505</Words>
  <Application>Microsoft Office PowerPoint</Application>
  <PresentationFormat>Widescreen</PresentationFormat>
  <Paragraphs>13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Final Project for PA Data science course   Logistic regression (based on Diabetees.csv)   by Karaliova Sviatlana</vt:lpstr>
      <vt:lpstr>1. Basic data exploration  - df.shape tells there are 403 rows and 15 columns (patients and their measurements);  - types: float64(10), int64(3), object(2);  - columns  that have missing values (e.g. chol, hdl, glyhb, height, frame);  The dataset is mostly complete, with a small amount of missing data in some variables.  2. Creating the target variable (has_diabetes) - HbA1c (glyhb) ≥ 6.5 indicates the person has diabetes; - Create a new binary column has_diabetes = 1 if glyhb ≥ 6.5, else 0;  So the classes are imbalanced (more healthy than diabetic), which we’ll keep in mind when evaluating the model.  3. Distributions of key features (glyhb, age distribution, fasting glucose distribution (stab.glu))  People labelled as diabetic have significantly higher glyhb values.  This validates our target definition.  4. Correlation between numeric variables  Strong positive correlation of has_diabetes with: - glyhb (by definition); - stab.glu (fasting glucose); - age, ratio, chol, waist, bp.1s. - slight negative correlation with hdl (“good” cholesterol).            </vt:lpstr>
      <vt:lpstr>5. Train/test split   6. Preprocessing + Logistic Regression pipeline  Build a Pipeline that: - imputes missing numeric values with median and scales them; - imputes missing categorical values with most frequent and one-hot encodes them; - trains a Logistic Regression model with class_weight="balanced" to handle class imbalance; - using a pipeline ensures that all preprocessing happens inside the cross-validation and training steps consistently; - scaling is important for Logistic Regression so that coefficients are on comparable scales. </vt:lpstr>
      <vt:lpstr>7. Train logistic regression and inspect coefficients Evaluate the model on the test set (threshold 0.5): - Accuracy ≈ 0.79 For class 1 (diabetes): - recall ≈ 0.68 ( correctly identifying about 68% of diabetic patients); - precision ≈ 0.41 (many predicted diabetics are actually non-diabetic); - ROC AUC ≈ 0.88 (good discrimination between classes).  The model performs reasonably well, better than random, and can distinguish diabetics vs non-diabetics with good AUC. There is a trade-off: some diabetics (false negatives) missed and also wrongly classify some healthy patients as diabetic (false positives).  8. Threshold tuning: different thresholds (0.3, 0.7)  - threshold 0.3 - Very high recall for diabetics. Lower precision and more false positives;  - threshold 0.5 (default) -  Balanced trade-off between precision and recall;  - threshold 0.7 - Higher accuracy, but lower recall for diabetics (missing more diabetics).  In a medical screening context, it may be more important to maximise recall (sensitivity) for the diabetic class, even at the cost of more false positives. Therefore, choosing a lower threshold (e.g., 0.3–0.4) might be appropriate depending on the clinical priorities.  9. Cross-validation on the training set (ROC AUC and accuracy) Cross-validation shows how stable the model is across different splits of the data. If mean CV ROC AUC and accuracy are similar to the test results, it can be said the model is not heavily overfitting.</vt:lpstr>
      <vt:lpstr>10. Random Forest model for comparison Higher overall accuracy and AUC for Random Forest compared to Logistic Regression. But recall for diabetics might be worse or similar, depending on threshold / hyperparameters.       11. Hyperparameter Tuning with GridSearchCV - improve model performance; - handle class imbalance more effectively; - reduce overfitting or underfitting  To tune: - C (regularization strength); - penalty (strength type); - class_weight; - solver (algorithm to optimize LR)  Using GridSearchCV with 5-fold cross-validation, the best model achieved a cross-validated ROC AUC of approximately 0.88. The tuned model improved the classification of diabetic patients by adjusting the regularization strength (C) and class weighting. Compared to the baseline logistic regression, the tuned version shows slightly better discrimination capability on the test dataset, as indicated by a higher ROC AUC and improved sensitivity to diabetic cases. ROC AUC improved slightly ⇒ better ranking ability. Recall changes show improved detection of diabetics. The tuned classifier generalizes well (similar CV vs test scores)</vt:lpstr>
      <vt:lpstr>12. Model Performance With vs. Without Feature Engineering Feature Engineering (df_fe[["BMI", "waist_height_ratio", "age_group", "bp_category", "chol_ratio"]].head()). Helps demonstrate overweight/obesity trends in diabetics vs non-diabetics. Higher BMI clusters are expected among diabetic patients. - BMI, Waist/Height, Chol Ratio enter the model - BP Category and Age Group are handled via OneHotEncoding - Makes logistic coefficients more clinically meaningful - These engineered features improved model performance and produced more interpretable coefficients aligned with real medical risk factors for diabetes.  Split data again (after feature engineering). Train/Test split again using updated dataset df_fe. ROC AUC increases &amp; Recall for diabetic class improves.  Feature Engineering increased model performance from an ROC AUC of ~0.88 to ~0.90. The improvements were most notable in recall for diabetic patients, demonstrating that the engineered medical risk indicators provided additional predictive power.  The engineered clinical indicators such as BMI and cholesterol ratio had large positive coefficients, meaning higher values increase the likelihood of diabetes. On the other hand, higher HDL (good cholesterol) and normal blood pressure categories were associated with reduced diabetes probability. This aligns with established medical risk factors, improving both model interpretability and accuracy.  Improvement Results: - logistic Regression ROC AUC -  Increased; - recall for diabetic class -  Improved; - clinical interpretability  - Much stronger </vt:lpstr>
      <vt:lpstr>Final summary  1. Data Exploration - Inspected variable types and examined summary statistics; - Identified missing values and handled them appropriately using median and mode imputation; - Created a binary target variable has_diabetes using the clinical threshold of glyhb ≥ 6.5%; - Conducted exploratory visualizations including histograms, boxplots, and a correlation heatmap; - Found that fasting glucose, HbA1c, age, and several obesity/blood pressure indicators are strongly associated with diabetes risk.  2. Feature Engineering Engineered clinically meaningful features: - BMI and Waist-to-Height Ratio (obesity measures); - Age Groups (capturing non-linear age effects); - Blood Pressure Category; - Cholesterol Ratio (Chol/HDL);  These features improved both predictive performance and clinical interpretability. Demonstrated performance improvement before vs after Feature Engineering with ROC AUC increase.           3. Modelling Built a full preprocessing pipeline combining: - Missing value imputation; - Standard scaling for numeric features; - One-hot encoding for categorical features; - Trained Logistic Regression with class weighting to address class imbalance; - Used train/test split with stratification to preserve class proportions.  4. Evaluated the model -Confusion matrix; - Precision, recall, F1-score; - ROC curve and AUC score.  5. Performed GridSearchCV hyperparameter tuning - Improve discrimination performance; - Reduce overfitting.      Thank you!</vt:lpstr>
    </vt:vector>
  </TitlesOfParts>
  <Company>UBS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Karaliova, Sviatlana</dc:creator>
  <cp:lastModifiedBy>Karaliova, Sviatlana</cp:lastModifiedBy>
  <cp:revision>1</cp:revision>
  <dcterms:created xsi:type="dcterms:W3CDTF">2025-12-02T06:08:05Z</dcterms:created>
  <dcterms:modified xsi:type="dcterms:W3CDTF">2025-12-02T12:27:44Z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1e85bf-ac82-4d95-8ebe-b1488d74b05a_Enabled">
    <vt:lpwstr>true</vt:lpwstr>
  </property>
  <property fmtid="{D5CDD505-2E9C-101B-9397-08002B2CF9AE}" pid="3" name="MSIP_Label_0c1e85bf-ac82-4d95-8ebe-b1488d74b05a_SetDate">
    <vt:lpwstr>2025-12-02T12:24:09Z</vt:lpwstr>
  </property>
  <property fmtid="{D5CDD505-2E9C-101B-9397-08002B2CF9AE}" pid="4" name="MSIP_Label_0c1e85bf-ac82-4d95-8ebe-b1488d74b05a_Method">
    <vt:lpwstr>Privileged</vt:lpwstr>
  </property>
  <property fmtid="{D5CDD505-2E9C-101B-9397-08002B2CF9AE}" pid="5" name="MSIP_Label_0c1e85bf-ac82-4d95-8ebe-b1488d74b05a_Name">
    <vt:lpwstr>0c1e85bf-ac82-4d95-8ebe-b1488d74b05a</vt:lpwstr>
  </property>
  <property fmtid="{D5CDD505-2E9C-101B-9397-08002B2CF9AE}" pid="6" name="MSIP_Label_0c1e85bf-ac82-4d95-8ebe-b1488d74b05a_SiteId">
    <vt:lpwstr>fb6ea403-7cf1-4905-810a-fe5547e98204</vt:lpwstr>
  </property>
  <property fmtid="{D5CDD505-2E9C-101B-9397-08002B2CF9AE}" pid="7" name="MSIP_Label_0c1e85bf-ac82-4d95-8ebe-b1488d74b05a_ActionId">
    <vt:lpwstr>27018583-0267-4eb0-8330-a8d1df5f1aa1</vt:lpwstr>
  </property>
  <property fmtid="{D5CDD505-2E9C-101B-9397-08002B2CF9AE}" pid="8" name="MSIP_Label_0c1e85bf-ac82-4d95-8ebe-b1488d74b05a_ContentBits">
    <vt:lpwstr>0</vt:lpwstr>
  </property>
  <property fmtid="{D5CDD505-2E9C-101B-9397-08002B2CF9AE}" pid="9" name="MSIP_Label_0c1e85bf-ac82-4d95-8ebe-b1488d74b05a_Tag">
    <vt:lpwstr>10, 0, 1, 1</vt:lpwstr>
  </property>
</Properties>
</file>